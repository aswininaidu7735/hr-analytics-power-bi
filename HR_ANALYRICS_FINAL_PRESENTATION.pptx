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408CB8-1D79-47A7-461E-7CE3901136C7}">
          <p14:sldIdLst>
            <p14:sldId id="256"/>
            <p14:sldId id="257"/>
            <p14:sldId id="258"/>
          </p14:sldIdLst>
        </p14:section>
        <p14:section name="Dashboard" id="{AD19DB7B-9F5D-5E03-219B-82568C5E92EA}">
          <p14:sldIdLst>
            <p14:sldId id="259"/>
            <p14:sldId id="260"/>
          </p14:sldIdLst>
        </p14:section>
        <p14:section name="Charts" id="{95E852DD-5095-9D97-BB29-9643FD131F01}">
          <p14:sldIdLst>
            <p14:sldId id="261"/>
            <p14:sldId id="262"/>
            <p14:sldId id="263"/>
            <p14:sldId id="264"/>
            <p14:sldId id="265"/>
          </p14:sldIdLst>
        </p14:section>
        <p14:section name="Insights" id="{CC3D3316-4C6F-9731-C735-667F687E79B7}">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688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Nettem Aswini Naidu. This is my individual Power BI project, PRDA-03 HR Analytics.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to analyse the HR employee data to understand the workforce, build a Power BI dashboard with KPIs and charts, and then derive insights and suggestions for the company. In total: 3 KPIs, 5 charts, 12 insights and 4 suggestions.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was to get the data into Power BI Desktop. The dataset has 22,214 employee records and 17 fields, with hire years from 2000 to 2020. I then built DAX measures for the KPIs and charts.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dashboard. It has the KPI cards, a line chart for hiring by year, a donut chart for gender, and three bar charts for state, department and race.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KPIs. There are 22,214 employees. 75.2 percent work at headquarters and 24.8 percent work remotely. The average age is 38.4 years.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axis is the hire year and Y axis is the number of hires. After the partial year 2000, hiring stays between about 1,000 and 1,150 every year. The peak is 2018 with 1,147 hires, and 2020 is the lowest full year with 1,012.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Male employees are 50.81 percent and female employees are 46.46 percent, so the workforce is well balanced. Non-conforming employees are 2.72 percent, which is 605 people.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Ohio is by far the largest location with 18,025 employees, which is 81 percent of the workforce. Pennsylvania is next with 1,115 and Wisconsin is the smallest with 382.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is the largest department with 6,686 employees, about 30 percent. Accounting is second with 3,333. Auditing is the smallest team with only 52 employees.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 employees are the largest group with 6,328, which is 28.5 percent. Two or More Races, Black or African American and Asian are each about 3,600, around 16 percent. No group is above 30 percent.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insights describe who works in the company: most people work at headquarters, Ohio holds 81 percent of staff, Engineering is the largest department, gender is balanced, no race is above 30 percent, and the average age is 38.4.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Hiring has been steady and peaked in 2018. Overall 17.7 percent of employees have left. Attrition is highest in Auditing, Legal and R and D, remote employees leave less often than HQ employees, and employees under 25 leave most often.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suggestions to the company: first, reduce dependence on one state by growing hiring elsewhere. Second, focus retention on Auditing, Legal, R&amp;D and Support, where attrition is highest. Third, support employees under 25 with onboarding and mentoring. Fourth, keep remote options, because remote employees leave less often.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Power BI helped me turn raw HR data into a clear dashboard. The company has 22,214 employees, most work at headquarters, and the average age is 38.4. Staff are concentrated in Ohio and Engineering, gender is balanced, and no race is above 30 percent. Hiring is steady, but 17.7 percent of employees have left, mostly in small teams like Auditing and Legal. Through this project I learned to load data, write DAX measures, design charts, and turn numbers into insights and suggestions.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F59E0B"/>
          </a:solidFill>
          <a:ln/>
        </p:spPr>
      </p:sp>
      <p:sp>
        <p:nvSpPr>
          <p:cNvPr id="3" name="Text 1"/>
          <p:cNvSpPr>
            <a:spLocks noGrp="1"/>
          </p:cNvSpPr>
          <p:nvPr>
            <p:ph type="title" idx="101" hasCustomPrompt="1"/>
          </p:nvPr>
        </p:nvSpPr>
        <p:spPr>
          <a:xfrm>
            <a:off x="640080" y="548640"/>
            <a:ext cx="4572000" cy="15544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932688"/>
            <a:ext cx="822960" cy="54864"/>
          </a:xfrm>
          <a:prstGeom prst="rect">
            <a:avLst/>
          </a:prstGeom>
          <a:solidFill>
            <a:srgbClr val="F59E0B"/>
          </a:solidFill>
          <a:ln/>
        </p:spPr>
      </p:sp>
      <p:sp>
        <p:nvSpPr>
          <p:cNvPr id="3" name="Text 1"/>
          <p:cNvSpPr>
            <a:spLocks noGrp="1"/>
          </p:cNvSpPr>
          <p:nvPr>
            <p:ph type="title" idx="101" hasCustomPrompt="1"/>
          </p:nvPr>
        </p:nvSpPr>
        <p:spPr>
          <a:xfrm>
            <a:off x="548640" y="274320"/>
            <a:ext cx="8046720" cy="64008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48640" y="932688"/>
            <a:ext cx="822960" cy="54864"/>
          </a:xfrm>
          <a:prstGeom prst="rect">
            <a:avLst/>
          </a:prstGeom>
          <a:solidFill>
            <a:srgbClr val="F59E0B"/>
          </a:solidFill>
          <a:ln/>
        </p:spPr>
      </p:sp>
      <p:sp>
        <p:nvSpPr>
          <p:cNvPr id="3" name="Text 1"/>
          <p:cNvSpPr/>
          <p:nvPr/>
        </p:nvSpPr>
        <p:spPr>
          <a:xfrm>
            <a:off x="548640" y="4773168"/>
            <a:ext cx="5486400" cy="228600"/>
          </a:xfrm>
          <a:prstGeom prst="rect">
            <a:avLst/>
          </a:prstGeom>
          <a:noFill/>
          <a:ln/>
        </p:spPr>
        <p:txBody>
          <a:bodyPr wrap="square" lIns="0" tIns="0" rIns="0" bIns="0" rtlCol="0" anchor="ctr"/>
          <a:lstStyle/>
          <a:p>
            <a:pPr marL="0" indent="0">
              <a:buNone/>
            </a:pPr>
            <a:r>
              <a:rPr lang="en-US" sz="1000" dirty="0">
                <a:solidFill>
                  <a:srgbClr val="6B7280"/>
                </a:solidFill>
              </a:rPr>
              <a:t>PRDA – 03 HR Analytics  |  Nettem Aswini Naidu</a:t>
            </a:r>
            <a:endParaRPr lang="en-US" sz="1000" dirty="0"/>
          </a:p>
        </p:txBody>
      </p:sp>
      <p:sp>
        <p:nvSpPr>
          <p:cNvPr id="4" name="Text 2"/>
          <p:cNvSpPr>
            <a:spLocks noGrp="1"/>
          </p:cNvSpPr>
          <p:nvPr>
            <p:ph type="title" idx="102" hasCustomPrompt="1"/>
          </p:nvPr>
        </p:nvSpPr>
        <p:spPr>
          <a:xfrm>
            <a:off x="548640" y="274320"/>
            <a:ext cx="8046720" cy="64008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548640"/>
            <a:ext cx="4572000" cy="1554480"/>
          </a:xfrm>
          <a:prstGeom prst="rect">
            <a:avLst/>
          </a:prstGeom>
          <a:noFill/>
          <a:ln/>
        </p:spPr>
        <p:txBody>
          <a:bodyPr wrap="square" lIns="0" tIns="0" rIns="0" bIns="0" rtlCol="0" anchor="t"/>
          <a:lstStyle/>
          <a:p>
            <a:pPr marL="0" indent="0" algn="l">
              <a:buNone/>
            </a:pPr>
            <a:r>
              <a:rPr lang="en-US" sz="4400" b="1" dirty="0">
                <a:solidFill>
                  <a:schemeClr val="bg1"/>
                </a:solidFill>
              </a:rPr>
              <a:t>PRDA – 03</a:t>
            </a:r>
            <a:endParaRPr lang="en-US" sz="4400" dirty="0"/>
          </a:p>
          <a:p>
            <a:pPr marL="0" indent="0" algn="l">
              <a:buNone/>
            </a:pPr>
            <a:r>
              <a:rPr lang="en-US" sz="4400" b="1" dirty="0">
                <a:solidFill>
                  <a:schemeClr val="bg1"/>
                </a:solidFill>
              </a:rPr>
              <a:t>HR Analytics</a:t>
            </a:r>
            <a:endParaRPr lang="en-US" sz="4400" dirty="0"/>
          </a:p>
        </p:txBody>
      </p:sp>
      <p:sp>
        <p:nvSpPr>
          <p:cNvPr id="3" name="Text 1"/>
          <p:cNvSpPr txBox="1"/>
          <p:nvPr/>
        </p:nvSpPr>
        <p:spPr>
          <a:xfrm>
            <a:off x="640080" y="2194560"/>
            <a:ext cx="4572000" cy="457200"/>
          </a:xfrm>
          <a:prstGeom prst="rect">
            <a:avLst/>
          </a:prstGeom>
          <a:noFill/>
          <a:ln/>
        </p:spPr>
        <p:txBody>
          <a:bodyPr wrap="square" lIns="0" tIns="0" rIns="0" bIns="0" rtlCol="0" anchor="ctr"/>
          <a:lstStyle/>
          <a:p>
            <a:pPr marL="0" indent="0">
              <a:buNone/>
            </a:pPr>
            <a:r>
              <a:rPr lang="en-US" sz="2000" dirty="0">
                <a:solidFill>
                  <a:schemeClr val="accent4"/>
                </a:solidFill>
              </a:rPr>
              <a:t>Power BI Dashboard Presentation</a:t>
            </a:r>
            <a:endParaRPr lang="en-US" sz="2000" dirty="0"/>
          </a:p>
        </p:txBody>
      </p:sp>
      <p:sp>
        <p:nvSpPr>
          <p:cNvPr id="4" name="Details card"/>
          <p:cNvSpPr/>
          <p:nvPr/>
        </p:nvSpPr>
        <p:spPr>
          <a:xfrm>
            <a:off x="640080" y="2926080"/>
            <a:ext cx="4206240" cy="1737360"/>
          </a:xfrm>
          <a:prstGeom prst="roundRect">
            <a:avLst>
              <a:gd name="adj" fmla="val 4211"/>
            </a:avLst>
          </a:prstGeom>
          <a:solidFill>
            <a:schemeClr val="accent4"/>
          </a:solidFill>
          <a:ln w="9525">
            <a:solidFill>
              <a:srgbClr val="DDE5F0"/>
            </a:solidFill>
            <a:prstDash val="solid"/>
          </a:ln>
          <a:effectLst>
            <a:outerShdw blurRad="101600" dist="25400" dir="5400000" algn="bl" rotWithShape="0">
              <a:srgbClr val="000000">
                <a:alpha val="14000"/>
              </a:srgbClr>
            </a:outerShdw>
          </a:effectLst>
        </p:spPr>
      </p:sp>
      <p:sp>
        <p:nvSpPr>
          <p:cNvPr id="5" name="Text 3"/>
          <p:cNvSpPr txBox="1"/>
          <p:nvPr/>
        </p:nvSpPr>
        <p:spPr>
          <a:xfrm>
            <a:off x="868680" y="3063240"/>
            <a:ext cx="1097280" cy="320040"/>
          </a:xfrm>
          <a:prstGeom prst="rect">
            <a:avLst/>
          </a:prstGeom>
          <a:noFill/>
          <a:ln/>
        </p:spPr>
        <p:txBody>
          <a:bodyPr wrap="square" lIns="0" tIns="0" rIns="0" bIns="0" rtlCol="0" anchor="ctr"/>
          <a:lstStyle/>
          <a:p>
            <a:pPr marL="0" indent="0">
              <a:buNone/>
            </a:pPr>
            <a:r>
              <a:rPr lang="en-US" sz="1500" b="1" dirty="0">
                <a:solidFill>
                  <a:schemeClr val="tx2"/>
                </a:solidFill>
              </a:rPr>
              <a:t>Name</a:t>
            </a:r>
            <a:endParaRPr lang="en-US" sz="1500" dirty="0"/>
          </a:p>
        </p:txBody>
      </p:sp>
      <p:sp>
        <p:nvSpPr>
          <p:cNvPr id="6" name="Text 4"/>
          <p:cNvSpPr txBox="1"/>
          <p:nvPr/>
        </p:nvSpPr>
        <p:spPr>
          <a:xfrm>
            <a:off x="1965960" y="3063240"/>
            <a:ext cx="2788920" cy="320040"/>
          </a:xfrm>
          <a:prstGeom prst="rect">
            <a:avLst/>
          </a:prstGeom>
          <a:noFill/>
          <a:ln/>
        </p:spPr>
        <p:txBody>
          <a:bodyPr wrap="square" lIns="0" tIns="0" rIns="0" bIns="0" rtlCol="0" anchor="ctr"/>
          <a:lstStyle/>
          <a:p>
            <a:pPr marL="0" indent="0">
              <a:buNone/>
            </a:pPr>
            <a:r>
              <a:rPr lang="en-US" sz="1500" dirty="0">
                <a:solidFill>
                  <a:schemeClr val="tx2"/>
                </a:solidFill>
              </a:rPr>
              <a:t>Nettem Aswini Naidu</a:t>
            </a:r>
            <a:endParaRPr lang="en-US" sz="1500" dirty="0"/>
          </a:p>
        </p:txBody>
      </p:sp>
      <p:sp>
        <p:nvSpPr>
          <p:cNvPr id="7" name="Text 5"/>
          <p:cNvSpPr txBox="1"/>
          <p:nvPr/>
        </p:nvSpPr>
        <p:spPr>
          <a:xfrm>
            <a:off x="868680" y="3456432"/>
            <a:ext cx="1097280" cy="320040"/>
          </a:xfrm>
          <a:prstGeom prst="rect">
            <a:avLst/>
          </a:prstGeom>
          <a:noFill/>
          <a:ln/>
        </p:spPr>
        <p:txBody>
          <a:bodyPr wrap="square" lIns="0" tIns="0" rIns="0" bIns="0" rtlCol="0" anchor="ctr"/>
          <a:lstStyle/>
          <a:p>
            <a:pPr marL="0" indent="0">
              <a:buNone/>
            </a:pPr>
            <a:r>
              <a:rPr lang="en-US" sz="1500" b="1" dirty="0">
                <a:solidFill>
                  <a:schemeClr val="tx2"/>
                </a:solidFill>
              </a:rPr>
              <a:t>Team ID</a:t>
            </a:r>
            <a:endParaRPr lang="en-US" sz="1500" dirty="0"/>
          </a:p>
        </p:txBody>
      </p:sp>
      <p:sp>
        <p:nvSpPr>
          <p:cNvPr id="8" name="Text 6"/>
          <p:cNvSpPr txBox="1"/>
          <p:nvPr/>
        </p:nvSpPr>
        <p:spPr>
          <a:xfrm>
            <a:off x="1965960" y="3456432"/>
            <a:ext cx="2788920" cy="320040"/>
          </a:xfrm>
          <a:prstGeom prst="rect">
            <a:avLst/>
          </a:prstGeom>
          <a:noFill/>
          <a:ln/>
        </p:spPr>
        <p:txBody>
          <a:bodyPr wrap="square" lIns="0" tIns="0" rIns="0" bIns="0" rtlCol="0" anchor="ctr"/>
          <a:lstStyle/>
          <a:p>
            <a:pPr marL="0" indent="0">
              <a:buNone/>
            </a:pPr>
            <a:r>
              <a:rPr lang="en-US" sz="1500" dirty="0">
                <a:solidFill>
                  <a:schemeClr val="tx2"/>
                </a:solidFill>
              </a:rPr>
              <a:t>PTID-CDA-OCT-26-11122</a:t>
            </a:r>
            <a:endParaRPr lang="en-US" sz="1500" dirty="0"/>
          </a:p>
        </p:txBody>
      </p:sp>
      <p:sp>
        <p:nvSpPr>
          <p:cNvPr id="9" name="Text 7"/>
          <p:cNvSpPr txBox="1"/>
          <p:nvPr/>
        </p:nvSpPr>
        <p:spPr>
          <a:xfrm>
            <a:off x="868680" y="3849624"/>
            <a:ext cx="1097280" cy="320040"/>
          </a:xfrm>
          <a:prstGeom prst="rect">
            <a:avLst/>
          </a:prstGeom>
          <a:noFill/>
          <a:ln/>
        </p:spPr>
        <p:txBody>
          <a:bodyPr wrap="square" lIns="0" tIns="0" rIns="0" bIns="0" rtlCol="0" anchor="ctr"/>
          <a:lstStyle/>
          <a:p>
            <a:pPr marL="0" indent="0">
              <a:buNone/>
            </a:pPr>
            <a:r>
              <a:rPr lang="en-US" sz="1500" b="1" dirty="0">
                <a:solidFill>
                  <a:schemeClr val="tx2"/>
                </a:solidFill>
              </a:rPr>
              <a:t>Course</a:t>
            </a:r>
            <a:endParaRPr lang="en-US" sz="1500" dirty="0"/>
          </a:p>
        </p:txBody>
      </p:sp>
      <p:sp>
        <p:nvSpPr>
          <p:cNvPr id="10" name="Text 8"/>
          <p:cNvSpPr txBox="1"/>
          <p:nvPr/>
        </p:nvSpPr>
        <p:spPr>
          <a:xfrm>
            <a:off x="1965960" y="3849624"/>
            <a:ext cx="2788920" cy="320040"/>
          </a:xfrm>
          <a:prstGeom prst="rect">
            <a:avLst/>
          </a:prstGeom>
          <a:noFill/>
          <a:ln/>
        </p:spPr>
        <p:txBody>
          <a:bodyPr wrap="square" lIns="0" tIns="0" rIns="0" bIns="0" rtlCol="0" anchor="ctr"/>
          <a:lstStyle/>
          <a:p>
            <a:pPr marL="0" indent="0">
              <a:buNone/>
            </a:pPr>
            <a:r>
              <a:rPr lang="en-US" sz="1500" dirty="0">
                <a:solidFill>
                  <a:schemeClr val="tx2"/>
                </a:solidFill>
              </a:rPr>
              <a:t>CDA</a:t>
            </a:r>
            <a:endParaRPr lang="en-US" sz="1500" dirty="0"/>
          </a:p>
        </p:txBody>
      </p:sp>
      <p:sp>
        <p:nvSpPr>
          <p:cNvPr id="11" name="Text 9"/>
          <p:cNvSpPr txBox="1"/>
          <p:nvPr/>
        </p:nvSpPr>
        <p:spPr>
          <a:xfrm>
            <a:off x="868680" y="4242816"/>
            <a:ext cx="1097280" cy="320040"/>
          </a:xfrm>
          <a:prstGeom prst="rect">
            <a:avLst/>
          </a:prstGeom>
          <a:noFill/>
          <a:ln/>
        </p:spPr>
        <p:txBody>
          <a:bodyPr wrap="square" lIns="0" tIns="0" rIns="0" bIns="0" rtlCol="0" anchor="ctr"/>
          <a:lstStyle/>
          <a:p>
            <a:pPr marL="0" indent="0">
              <a:buNone/>
            </a:pPr>
            <a:r>
              <a:rPr lang="en-US" sz="1500" b="1" dirty="0">
                <a:solidFill>
                  <a:schemeClr val="tx2"/>
                </a:solidFill>
              </a:rPr>
              <a:t>Members</a:t>
            </a:r>
            <a:endParaRPr lang="en-US" sz="1500" dirty="0"/>
          </a:p>
        </p:txBody>
      </p:sp>
      <p:sp>
        <p:nvSpPr>
          <p:cNvPr id="12" name="Text 10"/>
          <p:cNvSpPr txBox="1"/>
          <p:nvPr/>
        </p:nvSpPr>
        <p:spPr>
          <a:xfrm>
            <a:off x="1965960" y="4242816"/>
            <a:ext cx="2788920" cy="320040"/>
          </a:xfrm>
          <a:prstGeom prst="rect">
            <a:avLst/>
          </a:prstGeom>
          <a:noFill/>
          <a:ln/>
        </p:spPr>
        <p:txBody>
          <a:bodyPr wrap="square" lIns="0" tIns="0" rIns="0" bIns="0" rtlCol="0" anchor="ctr"/>
          <a:lstStyle/>
          <a:p>
            <a:pPr marL="0" indent="0">
              <a:buNone/>
            </a:pPr>
            <a:r>
              <a:rPr lang="en-US" sz="1500" dirty="0">
                <a:solidFill>
                  <a:schemeClr val="tx2"/>
                </a:solidFill>
              </a:rPr>
              <a:t>Individual project</a:t>
            </a:r>
            <a:endParaRPr lang="en-US" sz="1500" dirty="0"/>
          </a:p>
        </p:txBody>
      </p:sp>
      <p:sp>
        <p:nvSpPr>
          <p:cNvPr id="13" name="Frame HR Analytics dashboard preview"/>
          <p:cNvSpPr/>
          <p:nvPr/>
        </p:nvSpPr>
        <p:spPr>
          <a:xfrm>
            <a:off x="5212080" y="1371600"/>
            <a:ext cx="3474720" cy="2148840"/>
          </a:xfrm>
          <a:prstGeom prst="roundRect">
            <a:avLst>
              <a:gd name="adj" fmla="val 3404"/>
            </a:avLst>
          </a:prstGeom>
          <a:solidFill>
            <a:schemeClr val="bg1"/>
          </a:solidFill>
          <a:ln w="9525">
            <a:solidFill>
              <a:srgbClr val="DDE5F0"/>
            </a:solidFill>
            <a:prstDash val="solid"/>
          </a:ln>
          <a:effectLst>
            <a:outerShdw blurRad="1290320000" dist="322580000" algn="bl" rotWithShape="0">
              <a:srgbClr val="000000">
                <a:alpha val="0"/>
              </a:srgbClr>
            </a:outerShdw>
          </a:effectLst>
        </p:spPr>
      </p:sp>
      <p:pic>
        <p:nvPicPr>
          <p:cNvPr id="14" name="Image 0" descr="HR Analytics dashboard preview"/>
          <p:cNvPicPr>
            <a:picLocks noChangeAspect="1"/>
          </p:cNvPicPr>
          <p:nvPr/>
        </p:nvPicPr>
        <p:blipFill>
          <a:blip r:embed="rId3"/>
          <a:stretch>
            <a:fillRect/>
          </a:stretch>
        </p:blipFill>
        <p:spPr>
          <a:xfrm>
            <a:off x="5340096" y="1612561"/>
            <a:ext cx="3218688" cy="16669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Project objective</a:t>
            </a:r>
            <a:endParaRPr lang="en-US" sz="3200" dirty="0"/>
          </a:p>
        </p:txBody>
      </p:sp>
      <p:sp>
        <p:nvSpPr>
          <p:cNvPr id="3" name="Text 1"/>
          <p:cNvSpPr txBox="1"/>
          <p:nvPr/>
        </p:nvSpPr>
        <p:spPr>
          <a:xfrm>
            <a:off x="548640" y="1371600"/>
            <a:ext cx="402336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Analyse HR employee data to understand the workforce.</a:t>
            </a:r>
            <a:endParaRPr lang="en-US" sz="1800" dirty="0"/>
          </a:p>
          <a:p>
            <a:pPr marL="342900" indent="-342900">
              <a:spcAft>
                <a:spcPts val="1200"/>
              </a:spcAft>
              <a:buSzPct val="100000"/>
              <a:buChar char="•"/>
            </a:pPr>
            <a:r>
              <a:rPr lang="en-US" sz="1800" dirty="0">
                <a:solidFill>
                  <a:schemeClr val="tx1"/>
                </a:solidFill>
              </a:rPr>
              <a:t>Build a Power BI dashboard with KPIs and charts.</a:t>
            </a:r>
            <a:endParaRPr lang="en-US" sz="1800" dirty="0"/>
          </a:p>
          <a:p>
            <a:pPr marL="342900" indent="-342900">
              <a:buSzPct val="100000"/>
              <a:buChar char="•"/>
            </a:pPr>
            <a:r>
              <a:rPr lang="en-US" sz="1800" dirty="0">
                <a:solidFill>
                  <a:schemeClr val="tx1"/>
                </a:solidFill>
              </a:rPr>
              <a:t>Derive insights and give suggestions to the company.</a:t>
            </a:r>
            <a:endParaRPr lang="en-US" sz="1800" dirty="0"/>
          </a:p>
        </p:txBody>
      </p:sp>
      <p:sp>
        <p:nvSpPr>
          <p:cNvPr id="4" name="Stat KPIs"/>
          <p:cNvSpPr/>
          <p:nvPr/>
        </p:nvSpPr>
        <p:spPr>
          <a:xfrm>
            <a:off x="4846320" y="1280160"/>
            <a:ext cx="1828800" cy="1371600"/>
          </a:xfrm>
          <a:prstGeom prst="roundRect">
            <a:avLst>
              <a:gd name="adj" fmla="val 5333"/>
            </a:avLst>
          </a:prstGeom>
          <a:solidFill>
            <a:schemeClr val="bg1"/>
          </a:solidFill>
          <a:ln w="9525">
            <a:solidFill>
              <a:srgbClr val="DDE5F0"/>
            </a:solidFill>
            <a:prstDash val="solid"/>
          </a:ln>
          <a:effectLst>
            <a:outerShdw algn="bl" rotWithShape="0">
              <a:srgbClr val="000000">
                <a:alpha val="0"/>
              </a:srgbClr>
            </a:outerShdw>
          </a:effectLst>
        </p:spPr>
      </p:sp>
      <p:sp>
        <p:nvSpPr>
          <p:cNvPr id="5" name="Accent KPIs"/>
          <p:cNvSpPr/>
          <p:nvPr/>
        </p:nvSpPr>
        <p:spPr>
          <a:xfrm>
            <a:off x="4846320" y="1389888"/>
            <a:ext cx="73152" cy="1152144"/>
          </a:xfrm>
          <a:prstGeom prst="rect">
            <a:avLst/>
          </a:prstGeom>
          <a:solidFill>
            <a:schemeClr val="accent1"/>
          </a:solidFill>
          <a:ln w="12700">
            <a:solidFill>
              <a:schemeClr val="accent1"/>
            </a:solidFill>
            <a:prstDash val="solid"/>
          </a:ln>
        </p:spPr>
      </p:sp>
      <p:sp>
        <p:nvSpPr>
          <p:cNvPr id="6" name="Text 4"/>
          <p:cNvSpPr txBox="1"/>
          <p:nvPr/>
        </p:nvSpPr>
        <p:spPr>
          <a:xfrm>
            <a:off x="5074920" y="1353312"/>
            <a:ext cx="1463040" cy="548640"/>
          </a:xfrm>
          <a:prstGeom prst="rect">
            <a:avLst/>
          </a:prstGeom>
          <a:noFill/>
          <a:ln/>
        </p:spPr>
        <p:txBody>
          <a:bodyPr wrap="square" lIns="0" tIns="0" rIns="0" bIns="0" rtlCol="0" anchor="ctr"/>
          <a:lstStyle/>
          <a:p>
            <a:pPr marL="0" indent="0">
              <a:buNone/>
            </a:pPr>
            <a:r>
              <a:rPr lang="en-US" sz="3200" b="1" dirty="0">
                <a:solidFill>
                  <a:schemeClr val="tx2"/>
                </a:solidFill>
              </a:rPr>
              <a:t>3</a:t>
            </a:r>
            <a:endParaRPr lang="en-US" sz="3200" dirty="0"/>
          </a:p>
        </p:txBody>
      </p:sp>
      <p:sp>
        <p:nvSpPr>
          <p:cNvPr id="7" name="Text 5"/>
          <p:cNvSpPr txBox="1"/>
          <p:nvPr/>
        </p:nvSpPr>
        <p:spPr>
          <a:xfrm>
            <a:off x="5074920" y="1965960"/>
            <a:ext cx="1463040" cy="630936"/>
          </a:xfrm>
          <a:prstGeom prst="rect">
            <a:avLst/>
          </a:prstGeom>
          <a:noFill/>
          <a:ln/>
        </p:spPr>
        <p:txBody>
          <a:bodyPr wrap="square" lIns="0" tIns="0" rIns="0" bIns="0" rtlCol="0" anchor="t"/>
          <a:lstStyle/>
          <a:p>
            <a:pPr marL="0" indent="0">
              <a:buNone/>
            </a:pPr>
            <a:r>
              <a:rPr lang="en-US" sz="1400" dirty="0">
                <a:solidFill>
                  <a:schemeClr val="tx1"/>
                </a:solidFill>
              </a:rPr>
              <a:t>KPIs</a:t>
            </a:r>
            <a:endParaRPr lang="en-US" sz="1400" dirty="0"/>
          </a:p>
        </p:txBody>
      </p:sp>
      <p:sp>
        <p:nvSpPr>
          <p:cNvPr id="8" name="Stat charts"/>
          <p:cNvSpPr/>
          <p:nvPr/>
        </p:nvSpPr>
        <p:spPr>
          <a:xfrm>
            <a:off x="6858000" y="1280160"/>
            <a:ext cx="1828800" cy="1371600"/>
          </a:xfrm>
          <a:prstGeom prst="roundRect">
            <a:avLst>
              <a:gd name="adj" fmla="val 5333"/>
            </a:avLst>
          </a:prstGeom>
          <a:solidFill>
            <a:schemeClr val="bg1"/>
          </a:solidFill>
          <a:ln w="9525">
            <a:solidFill>
              <a:srgbClr val="DDE5F0"/>
            </a:solidFill>
            <a:prstDash val="solid"/>
          </a:ln>
          <a:effectLst>
            <a:outerShdw algn="bl" rotWithShape="0">
              <a:srgbClr val="000000">
                <a:alpha val="0"/>
              </a:srgbClr>
            </a:outerShdw>
          </a:effectLst>
        </p:spPr>
      </p:sp>
      <p:sp>
        <p:nvSpPr>
          <p:cNvPr id="9" name="Accent charts"/>
          <p:cNvSpPr/>
          <p:nvPr/>
        </p:nvSpPr>
        <p:spPr>
          <a:xfrm>
            <a:off x="6858000" y="1389888"/>
            <a:ext cx="73152" cy="1152144"/>
          </a:xfrm>
          <a:prstGeom prst="rect">
            <a:avLst/>
          </a:prstGeom>
          <a:solidFill>
            <a:schemeClr val="accent2"/>
          </a:solidFill>
          <a:ln w="12700">
            <a:solidFill>
              <a:schemeClr val="accent2"/>
            </a:solidFill>
            <a:prstDash val="solid"/>
          </a:ln>
        </p:spPr>
      </p:sp>
      <p:sp>
        <p:nvSpPr>
          <p:cNvPr id="10" name="Text 8"/>
          <p:cNvSpPr txBox="1"/>
          <p:nvPr/>
        </p:nvSpPr>
        <p:spPr>
          <a:xfrm>
            <a:off x="7086600" y="1353312"/>
            <a:ext cx="1463040" cy="548640"/>
          </a:xfrm>
          <a:prstGeom prst="rect">
            <a:avLst/>
          </a:prstGeom>
          <a:noFill/>
          <a:ln/>
        </p:spPr>
        <p:txBody>
          <a:bodyPr wrap="square" lIns="0" tIns="0" rIns="0" bIns="0" rtlCol="0" anchor="ctr"/>
          <a:lstStyle/>
          <a:p>
            <a:pPr marL="0" indent="0">
              <a:buNone/>
            </a:pPr>
            <a:r>
              <a:rPr lang="en-US" sz="3200" b="1" dirty="0">
                <a:solidFill>
                  <a:schemeClr val="tx2"/>
                </a:solidFill>
              </a:rPr>
              <a:t>5</a:t>
            </a:r>
            <a:endParaRPr lang="en-US" sz="3200" dirty="0"/>
          </a:p>
        </p:txBody>
      </p:sp>
      <p:sp>
        <p:nvSpPr>
          <p:cNvPr id="11" name="Text 9"/>
          <p:cNvSpPr txBox="1"/>
          <p:nvPr/>
        </p:nvSpPr>
        <p:spPr>
          <a:xfrm>
            <a:off x="7086600" y="1965960"/>
            <a:ext cx="1463040" cy="630936"/>
          </a:xfrm>
          <a:prstGeom prst="rect">
            <a:avLst/>
          </a:prstGeom>
          <a:noFill/>
          <a:ln/>
        </p:spPr>
        <p:txBody>
          <a:bodyPr wrap="square" lIns="0" tIns="0" rIns="0" bIns="0" rtlCol="0" anchor="t"/>
          <a:lstStyle/>
          <a:p>
            <a:pPr marL="0" indent="0">
              <a:buNone/>
            </a:pPr>
            <a:r>
              <a:rPr lang="en-US" sz="1400" dirty="0">
                <a:solidFill>
                  <a:schemeClr val="tx1"/>
                </a:solidFill>
              </a:rPr>
              <a:t>charts</a:t>
            </a:r>
            <a:endParaRPr lang="en-US" sz="1400" dirty="0"/>
          </a:p>
        </p:txBody>
      </p:sp>
      <p:sp>
        <p:nvSpPr>
          <p:cNvPr id="12" name="Stat insights"/>
          <p:cNvSpPr/>
          <p:nvPr/>
        </p:nvSpPr>
        <p:spPr>
          <a:xfrm>
            <a:off x="4846320" y="2834640"/>
            <a:ext cx="1828800" cy="1371600"/>
          </a:xfrm>
          <a:prstGeom prst="roundRect">
            <a:avLst>
              <a:gd name="adj" fmla="val 5333"/>
            </a:avLst>
          </a:prstGeom>
          <a:solidFill>
            <a:schemeClr val="bg1"/>
          </a:solidFill>
          <a:ln w="9525">
            <a:solidFill>
              <a:srgbClr val="DDE5F0"/>
            </a:solidFill>
            <a:prstDash val="solid"/>
          </a:ln>
          <a:effectLst>
            <a:outerShdw algn="bl" rotWithShape="0">
              <a:srgbClr val="000000">
                <a:alpha val="0"/>
              </a:srgbClr>
            </a:outerShdw>
          </a:effectLst>
        </p:spPr>
      </p:sp>
      <p:sp>
        <p:nvSpPr>
          <p:cNvPr id="13" name="Accent insights"/>
          <p:cNvSpPr/>
          <p:nvPr/>
        </p:nvSpPr>
        <p:spPr>
          <a:xfrm>
            <a:off x="4846320" y="2944368"/>
            <a:ext cx="73152" cy="1152144"/>
          </a:xfrm>
          <a:prstGeom prst="rect">
            <a:avLst/>
          </a:prstGeom>
          <a:solidFill>
            <a:schemeClr val="accent5"/>
          </a:solidFill>
          <a:ln w="12700">
            <a:solidFill>
              <a:schemeClr val="accent5"/>
            </a:solidFill>
            <a:prstDash val="solid"/>
          </a:ln>
        </p:spPr>
      </p:sp>
      <p:sp>
        <p:nvSpPr>
          <p:cNvPr id="14" name="Text 12"/>
          <p:cNvSpPr txBox="1"/>
          <p:nvPr/>
        </p:nvSpPr>
        <p:spPr>
          <a:xfrm>
            <a:off x="5074920" y="2907792"/>
            <a:ext cx="1463040" cy="548640"/>
          </a:xfrm>
          <a:prstGeom prst="rect">
            <a:avLst/>
          </a:prstGeom>
          <a:noFill/>
          <a:ln/>
        </p:spPr>
        <p:txBody>
          <a:bodyPr wrap="square" lIns="0" tIns="0" rIns="0" bIns="0" rtlCol="0" anchor="ctr"/>
          <a:lstStyle/>
          <a:p>
            <a:pPr marL="0" indent="0">
              <a:buNone/>
            </a:pPr>
            <a:r>
              <a:rPr lang="en-US" sz="3200" b="1" dirty="0">
                <a:solidFill>
                  <a:schemeClr val="tx2"/>
                </a:solidFill>
              </a:rPr>
              <a:t>12</a:t>
            </a:r>
            <a:endParaRPr lang="en-US" sz="3200" dirty="0"/>
          </a:p>
        </p:txBody>
      </p:sp>
      <p:sp>
        <p:nvSpPr>
          <p:cNvPr id="15" name="Text 13"/>
          <p:cNvSpPr txBox="1"/>
          <p:nvPr/>
        </p:nvSpPr>
        <p:spPr>
          <a:xfrm>
            <a:off x="5074920" y="3520440"/>
            <a:ext cx="1463040" cy="630936"/>
          </a:xfrm>
          <a:prstGeom prst="rect">
            <a:avLst/>
          </a:prstGeom>
          <a:noFill/>
          <a:ln/>
        </p:spPr>
        <p:txBody>
          <a:bodyPr wrap="square" lIns="0" tIns="0" rIns="0" bIns="0" rtlCol="0" anchor="t"/>
          <a:lstStyle/>
          <a:p>
            <a:pPr marL="0" indent="0">
              <a:buNone/>
            </a:pPr>
            <a:r>
              <a:rPr lang="en-US" sz="1400" dirty="0">
                <a:solidFill>
                  <a:schemeClr val="tx1"/>
                </a:solidFill>
              </a:rPr>
              <a:t>insights</a:t>
            </a:r>
            <a:endParaRPr lang="en-US" sz="1400" dirty="0"/>
          </a:p>
        </p:txBody>
      </p:sp>
      <p:sp>
        <p:nvSpPr>
          <p:cNvPr id="16" name="Stat suggestions"/>
          <p:cNvSpPr/>
          <p:nvPr/>
        </p:nvSpPr>
        <p:spPr>
          <a:xfrm>
            <a:off x="6858000" y="2834640"/>
            <a:ext cx="1828800" cy="1371600"/>
          </a:xfrm>
          <a:prstGeom prst="roundRect">
            <a:avLst>
              <a:gd name="adj" fmla="val 5333"/>
            </a:avLst>
          </a:prstGeom>
          <a:solidFill>
            <a:schemeClr val="bg1"/>
          </a:solidFill>
          <a:ln w="9525">
            <a:solidFill>
              <a:srgbClr val="DDE5F0"/>
            </a:solidFill>
            <a:prstDash val="solid"/>
          </a:ln>
          <a:effectLst>
            <a:outerShdw algn="bl" rotWithShape="0">
              <a:srgbClr val="000000">
                <a:alpha val="0"/>
              </a:srgbClr>
            </a:outerShdw>
          </a:effectLst>
        </p:spPr>
      </p:sp>
      <p:sp>
        <p:nvSpPr>
          <p:cNvPr id="17" name="Accent suggestions"/>
          <p:cNvSpPr/>
          <p:nvPr/>
        </p:nvSpPr>
        <p:spPr>
          <a:xfrm>
            <a:off x="6858000" y="2944368"/>
            <a:ext cx="73152" cy="1152144"/>
          </a:xfrm>
          <a:prstGeom prst="rect">
            <a:avLst/>
          </a:prstGeom>
          <a:solidFill>
            <a:schemeClr val="accent6"/>
          </a:solidFill>
          <a:ln w="12700">
            <a:solidFill>
              <a:schemeClr val="accent6"/>
            </a:solidFill>
            <a:prstDash val="solid"/>
          </a:ln>
        </p:spPr>
      </p:sp>
      <p:sp>
        <p:nvSpPr>
          <p:cNvPr id="18" name="Text 16"/>
          <p:cNvSpPr txBox="1"/>
          <p:nvPr/>
        </p:nvSpPr>
        <p:spPr>
          <a:xfrm>
            <a:off x="7086600" y="2907792"/>
            <a:ext cx="1463040" cy="548640"/>
          </a:xfrm>
          <a:prstGeom prst="rect">
            <a:avLst/>
          </a:prstGeom>
          <a:noFill/>
          <a:ln/>
        </p:spPr>
        <p:txBody>
          <a:bodyPr wrap="square" lIns="0" tIns="0" rIns="0" bIns="0" rtlCol="0" anchor="ctr"/>
          <a:lstStyle/>
          <a:p>
            <a:pPr marL="0" indent="0">
              <a:buNone/>
            </a:pPr>
            <a:r>
              <a:rPr lang="en-US" sz="3200" b="1" dirty="0">
                <a:solidFill>
                  <a:schemeClr val="tx2"/>
                </a:solidFill>
              </a:rPr>
              <a:t>4</a:t>
            </a:r>
            <a:endParaRPr lang="en-US" sz="3200" dirty="0"/>
          </a:p>
        </p:txBody>
      </p:sp>
      <p:sp>
        <p:nvSpPr>
          <p:cNvPr id="19" name="Text 17"/>
          <p:cNvSpPr txBox="1"/>
          <p:nvPr/>
        </p:nvSpPr>
        <p:spPr>
          <a:xfrm>
            <a:off x="7086600" y="3520440"/>
            <a:ext cx="1463040" cy="630936"/>
          </a:xfrm>
          <a:prstGeom prst="rect">
            <a:avLst/>
          </a:prstGeom>
          <a:noFill/>
          <a:ln/>
        </p:spPr>
        <p:txBody>
          <a:bodyPr wrap="square" lIns="0" tIns="0" rIns="0" bIns="0" rtlCol="0" anchor="t"/>
          <a:lstStyle/>
          <a:p>
            <a:pPr marL="0" indent="0">
              <a:buNone/>
            </a:pPr>
            <a:r>
              <a:rPr lang="en-US" sz="1400" dirty="0">
                <a:solidFill>
                  <a:schemeClr val="tx1"/>
                </a:solidFill>
              </a:rPr>
              <a:t>suggestions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Getting the data</a:t>
            </a:r>
            <a:endParaRPr lang="en-US" sz="3200" dirty="0"/>
          </a:p>
        </p:txBody>
      </p:sp>
      <p:sp>
        <p:nvSpPr>
          <p:cNvPr id="3" name="Text 1"/>
          <p:cNvSpPr txBox="1"/>
          <p:nvPr/>
        </p:nvSpPr>
        <p:spPr>
          <a:xfrm>
            <a:off x="548640" y="1371600"/>
            <a:ext cx="402336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Data loaded into Power BI Desktop using Get Data.</a:t>
            </a:r>
            <a:endParaRPr lang="en-US" sz="1800" dirty="0"/>
          </a:p>
          <a:p>
            <a:pPr marL="342900" indent="-342900">
              <a:spcAft>
                <a:spcPts val="1200"/>
              </a:spcAft>
              <a:buSzPct val="100000"/>
              <a:buChar char="•"/>
            </a:pPr>
            <a:r>
              <a:rPr lang="en-US" sz="1800" dirty="0">
                <a:solidFill>
                  <a:schemeClr val="tx1"/>
                </a:solidFill>
              </a:rPr>
              <a:t>Fields used: gender, department, race, state, location (HQ or Remote), age, hire year and termination.</a:t>
            </a:r>
            <a:endParaRPr lang="en-US" sz="1800" dirty="0"/>
          </a:p>
          <a:p>
            <a:pPr marL="342900" indent="-342900">
              <a:buSzPct val="100000"/>
              <a:buChar char="•"/>
            </a:pPr>
            <a:r>
              <a:rPr lang="en-US" sz="1800" dirty="0">
                <a:solidFill>
                  <a:schemeClr val="tx1"/>
                </a:solidFill>
              </a:rPr>
              <a:t>DAX measures built for the KPIs and charts.</a:t>
            </a:r>
            <a:endParaRPr lang="en-US" sz="1800" dirty="0"/>
          </a:p>
        </p:txBody>
      </p:sp>
      <p:sp>
        <p:nvSpPr>
          <p:cNvPr id="4" name="Stat employee records"/>
          <p:cNvSpPr/>
          <p:nvPr/>
        </p:nvSpPr>
        <p:spPr>
          <a:xfrm>
            <a:off x="4937760" y="1280160"/>
            <a:ext cx="365760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5" name="Accent employee records"/>
          <p:cNvSpPr/>
          <p:nvPr/>
        </p:nvSpPr>
        <p:spPr>
          <a:xfrm>
            <a:off x="4937760" y="1389888"/>
            <a:ext cx="73152" cy="832104"/>
          </a:xfrm>
          <a:prstGeom prst="rect">
            <a:avLst/>
          </a:prstGeom>
          <a:solidFill>
            <a:schemeClr val="accent1"/>
          </a:solidFill>
          <a:ln w="12700">
            <a:solidFill>
              <a:schemeClr val="accent1"/>
            </a:solidFill>
            <a:prstDash val="solid"/>
          </a:ln>
        </p:spPr>
      </p:sp>
      <p:sp>
        <p:nvSpPr>
          <p:cNvPr id="6" name="Text 4"/>
          <p:cNvSpPr txBox="1"/>
          <p:nvPr/>
        </p:nvSpPr>
        <p:spPr>
          <a:xfrm>
            <a:off x="5166360" y="1353312"/>
            <a:ext cx="3291840" cy="420624"/>
          </a:xfrm>
          <a:prstGeom prst="rect">
            <a:avLst/>
          </a:prstGeom>
          <a:noFill/>
          <a:ln/>
        </p:spPr>
        <p:txBody>
          <a:bodyPr wrap="square" lIns="0" tIns="0" rIns="0" bIns="0" rtlCol="0" anchor="ctr"/>
          <a:lstStyle/>
          <a:p>
            <a:pPr marL="0" indent="0">
              <a:buNone/>
            </a:pPr>
            <a:r>
              <a:rPr lang="en-US" sz="2800" b="1" dirty="0">
                <a:solidFill>
                  <a:schemeClr val="tx2"/>
                </a:solidFill>
              </a:rPr>
              <a:t>22,214</a:t>
            </a:r>
            <a:endParaRPr lang="en-US" sz="2800" dirty="0"/>
          </a:p>
        </p:txBody>
      </p:sp>
      <p:sp>
        <p:nvSpPr>
          <p:cNvPr id="7" name="Text 5"/>
          <p:cNvSpPr txBox="1"/>
          <p:nvPr/>
        </p:nvSpPr>
        <p:spPr>
          <a:xfrm>
            <a:off x="5166360" y="1805940"/>
            <a:ext cx="3291840" cy="483718"/>
          </a:xfrm>
          <a:prstGeom prst="rect">
            <a:avLst/>
          </a:prstGeom>
          <a:noFill/>
          <a:ln/>
        </p:spPr>
        <p:txBody>
          <a:bodyPr wrap="square" lIns="0" tIns="0" rIns="0" bIns="0" rtlCol="0" anchor="t"/>
          <a:lstStyle/>
          <a:p>
            <a:pPr marL="0" indent="0">
              <a:buNone/>
            </a:pPr>
            <a:r>
              <a:rPr lang="en-US" sz="1400" dirty="0">
                <a:solidFill>
                  <a:schemeClr val="tx1"/>
                </a:solidFill>
              </a:rPr>
              <a:t>employee records</a:t>
            </a:r>
            <a:endParaRPr lang="en-US" sz="1400" dirty="0"/>
          </a:p>
        </p:txBody>
      </p:sp>
      <p:sp>
        <p:nvSpPr>
          <p:cNvPr id="8" name="Stat data fields"/>
          <p:cNvSpPr/>
          <p:nvPr/>
        </p:nvSpPr>
        <p:spPr>
          <a:xfrm>
            <a:off x="4937760" y="2468880"/>
            <a:ext cx="365760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9" name="Accent data fields"/>
          <p:cNvSpPr/>
          <p:nvPr/>
        </p:nvSpPr>
        <p:spPr>
          <a:xfrm>
            <a:off x="4937760" y="2578608"/>
            <a:ext cx="73152" cy="832104"/>
          </a:xfrm>
          <a:prstGeom prst="rect">
            <a:avLst/>
          </a:prstGeom>
          <a:solidFill>
            <a:schemeClr val="accent2"/>
          </a:solidFill>
          <a:ln w="12700">
            <a:solidFill>
              <a:schemeClr val="accent2"/>
            </a:solidFill>
            <a:prstDash val="solid"/>
          </a:ln>
        </p:spPr>
      </p:sp>
      <p:sp>
        <p:nvSpPr>
          <p:cNvPr id="10" name="Text 8"/>
          <p:cNvSpPr txBox="1"/>
          <p:nvPr/>
        </p:nvSpPr>
        <p:spPr>
          <a:xfrm>
            <a:off x="5166360" y="2542032"/>
            <a:ext cx="3291840" cy="420624"/>
          </a:xfrm>
          <a:prstGeom prst="rect">
            <a:avLst/>
          </a:prstGeom>
          <a:noFill/>
          <a:ln/>
        </p:spPr>
        <p:txBody>
          <a:bodyPr wrap="square" lIns="0" tIns="0" rIns="0" bIns="0" rtlCol="0" anchor="ctr"/>
          <a:lstStyle/>
          <a:p>
            <a:pPr marL="0" indent="0">
              <a:buNone/>
            </a:pPr>
            <a:r>
              <a:rPr lang="en-US" sz="2800" b="1" dirty="0">
                <a:solidFill>
                  <a:schemeClr val="tx2"/>
                </a:solidFill>
              </a:rPr>
              <a:t>17</a:t>
            </a:r>
            <a:endParaRPr lang="en-US" sz="2800" dirty="0"/>
          </a:p>
        </p:txBody>
      </p:sp>
      <p:sp>
        <p:nvSpPr>
          <p:cNvPr id="11" name="Text 9"/>
          <p:cNvSpPr txBox="1"/>
          <p:nvPr/>
        </p:nvSpPr>
        <p:spPr>
          <a:xfrm>
            <a:off x="5166360" y="2994660"/>
            <a:ext cx="3291840" cy="483718"/>
          </a:xfrm>
          <a:prstGeom prst="rect">
            <a:avLst/>
          </a:prstGeom>
          <a:noFill/>
          <a:ln/>
        </p:spPr>
        <p:txBody>
          <a:bodyPr wrap="square" lIns="0" tIns="0" rIns="0" bIns="0" rtlCol="0" anchor="t"/>
          <a:lstStyle/>
          <a:p>
            <a:pPr marL="0" indent="0">
              <a:buNone/>
            </a:pPr>
            <a:r>
              <a:rPr lang="en-US" sz="1400" dirty="0">
                <a:solidFill>
                  <a:schemeClr val="tx1"/>
                </a:solidFill>
              </a:rPr>
              <a:t>data fields</a:t>
            </a:r>
            <a:endParaRPr lang="en-US" sz="1400" dirty="0"/>
          </a:p>
        </p:txBody>
      </p:sp>
      <p:sp>
        <p:nvSpPr>
          <p:cNvPr id="12" name="Stat hire years"/>
          <p:cNvSpPr/>
          <p:nvPr/>
        </p:nvSpPr>
        <p:spPr>
          <a:xfrm>
            <a:off x="4937760" y="3657600"/>
            <a:ext cx="365760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3" name="Accent hire years"/>
          <p:cNvSpPr/>
          <p:nvPr/>
        </p:nvSpPr>
        <p:spPr>
          <a:xfrm>
            <a:off x="4937760" y="3767328"/>
            <a:ext cx="73152" cy="832104"/>
          </a:xfrm>
          <a:prstGeom prst="rect">
            <a:avLst/>
          </a:prstGeom>
          <a:solidFill>
            <a:schemeClr val="accent5"/>
          </a:solidFill>
          <a:ln w="12700">
            <a:solidFill>
              <a:schemeClr val="accent5"/>
            </a:solidFill>
            <a:prstDash val="solid"/>
          </a:ln>
        </p:spPr>
      </p:sp>
      <p:sp>
        <p:nvSpPr>
          <p:cNvPr id="14" name="Text 12"/>
          <p:cNvSpPr txBox="1"/>
          <p:nvPr/>
        </p:nvSpPr>
        <p:spPr>
          <a:xfrm>
            <a:off x="5166360" y="3730752"/>
            <a:ext cx="3291840" cy="420624"/>
          </a:xfrm>
          <a:prstGeom prst="rect">
            <a:avLst/>
          </a:prstGeom>
          <a:noFill/>
          <a:ln/>
        </p:spPr>
        <p:txBody>
          <a:bodyPr wrap="square" lIns="0" tIns="0" rIns="0" bIns="0" rtlCol="0" anchor="ctr"/>
          <a:lstStyle/>
          <a:p>
            <a:pPr marL="0" indent="0">
              <a:buNone/>
            </a:pPr>
            <a:r>
              <a:rPr lang="en-US" sz="2800" b="1" dirty="0">
                <a:solidFill>
                  <a:schemeClr val="tx2"/>
                </a:solidFill>
              </a:rPr>
              <a:t>2000–2020</a:t>
            </a:r>
            <a:endParaRPr lang="en-US" sz="2800" dirty="0"/>
          </a:p>
        </p:txBody>
      </p:sp>
      <p:sp>
        <p:nvSpPr>
          <p:cNvPr id="15" name="Text 13"/>
          <p:cNvSpPr txBox="1"/>
          <p:nvPr/>
        </p:nvSpPr>
        <p:spPr>
          <a:xfrm>
            <a:off x="5166360" y="4183380"/>
            <a:ext cx="3291840" cy="483718"/>
          </a:xfrm>
          <a:prstGeom prst="rect">
            <a:avLst/>
          </a:prstGeom>
          <a:noFill/>
          <a:ln/>
        </p:spPr>
        <p:txBody>
          <a:bodyPr wrap="square" lIns="0" tIns="0" rIns="0" bIns="0" rtlCol="0" anchor="t"/>
          <a:lstStyle/>
          <a:p>
            <a:pPr marL="0" indent="0">
              <a:buNone/>
            </a:pPr>
            <a:r>
              <a:rPr lang="en-US" sz="1400" dirty="0">
                <a:solidFill>
                  <a:schemeClr val="tx1"/>
                </a:solidFill>
              </a:rPr>
              <a:t>hire years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bg1"/>
                </a:solidFill>
              </a:rPr>
              <a:t>Power BI dashboard</a:t>
            </a:r>
            <a:endParaRPr lang="en-US" sz="3200" dirty="0"/>
          </a:p>
        </p:txBody>
      </p:sp>
      <p:pic>
        <p:nvPicPr>
          <p:cNvPr id="3" name="Image 0" descr="Final Power BI HR Analytics dashboard"/>
          <p:cNvPicPr>
            <a:picLocks noChangeAspect="1"/>
          </p:cNvPicPr>
          <p:nvPr/>
        </p:nvPicPr>
        <p:blipFill>
          <a:blip r:embed="rId3"/>
          <a:stretch>
            <a:fillRect/>
          </a:stretch>
        </p:blipFill>
        <p:spPr>
          <a:xfrm>
            <a:off x="1084872" y="1188720"/>
            <a:ext cx="6974255" cy="3611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KPIs</a:t>
            </a:r>
            <a:endParaRPr lang="en-US" sz="3200" dirty="0"/>
          </a:p>
        </p:txBody>
      </p:sp>
      <p:sp>
        <p:nvSpPr>
          <p:cNvPr id="3" name="KPI 0"/>
          <p:cNvSpPr/>
          <p:nvPr/>
        </p:nvSpPr>
        <p:spPr>
          <a:xfrm>
            <a:off x="548640" y="1280160"/>
            <a:ext cx="2560320" cy="2926080"/>
          </a:xfrm>
          <a:prstGeom prst="roundRect">
            <a:avLst>
              <a:gd name="adj" fmla="val 2857"/>
            </a:avLst>
          </a:prstGeom>
          <a:solidFill>
            <a:schemeClr val="bg1"/>
          </a:solidFill>
          <a:ln w="9525">
            <a:solidFill>
              <a:srgbClr val="DDE5F0"/>
            </a:solidFill>
            <a:prstDash val="solid"/>
          </a:ln>
          <a:effectLst>
            <a:outerShdw algn="bl" rotWithShape="0">
              <a:srgbClr val="000000">
                <a:alpha val="0"/>
              </a:srgbClr>
            </a:outerShdw>
          </a:effectLst>
        </p:spPr>
      </p:sp>
      <p:sp>
        <p:nvSpPr>
          <p:cNvPr id="4" name="KPI bar 0"/>
          <p:cNvSpPr/>
          <p:nvPr/>
        </p:nvSpPr>
        <p:spPr>
          <a:xfrm>
            <a:off x="731520" y="1280160"/>
            <a:ext cx="2194560" cy="91440"/>
          </a:xfrm>
          <a:prstGeom prst="rect">
            <a:avLst/>
          </a:prstGeom>
          <a:solidFill>
            <a:schemeClr val="accent1"/>
          </a:solidFill>
          <a:ln w="12700">
            <a:solidFill>
              <a:schemeClr val="accent1"/>
            </a:solidFill>
            <a:prstDash val="solid"/>
          </a:ln>
        </p:spPr>
      </p:sp>
      <p:sp>
        <p:nvSpPr>
          <p:cNvPr id="5" name="KPI 1"/>
          <p:cNvSpPr/>
          <p:nvPr/>
        </p:nvSpPr>
        <p:spPr>
          <a:xfrm>
            <a:off x="3291840" y="1280160"/>
            <a:ext cx="2560320" cy="2926080"/>
          </a:xfrm>
          <a:prstGeom prst="roundRect">
            <a:avLst>
              <a:gd name="adj" fmla="val 2857"/>
            </a:avLst>
          </a:prstGeom>
          <a:solidFill>
            <a:schemeClr val="bg1"/>
          </a:solidFill>
          <a:ln w="9525">
            <a:solidFill>
              <a:srgbClr val="DDE5F0"/>
            </a:solidFill>
            <a:prstDash val="solid"/>
          </a:ln>
          <a:effectLst>
            <a:outerShdw algn="bl" rotWithShape="0">
              <a:srgbClr val="000000">
                <a:alpha val="0"/>
              </a:srgbClr>
            </a:outerShdw>
          </a:effectLst>
        </p:spPr>
      </p:sp>
      <p:sp>
        <p:nvSpPr>
          <p:cNvPr id="6" name="KPI bar 1"/>
          <p:cNvSpPr/>
          <p:nvPr/>
        </p:nvSpPr>
        <p:spPr>
          <a:xfrm>
            <a:off x="3474720" y="1280160"/>
            <a:ext cx="2194560" cy="91440"/>
          </a:xfrm>
          <a:prstGeom prst="rect">
            <a:avLst/>
          </a:prstGeom>
          <a:solidFill>
            <a:schemeClr val="accent2"/>
          </a:solidFill>
          <a:ln w="12700">
            <a:solidFill>
              <a:schemeClr val="accent2"/>
            </a:solidFill>
            <a:prstDash val="solid"/>
          </a:ln>
        </p:spPr>
      </p:sp>
      <p:sp>
        <p:nvSpPr>
          <p:cNvPr id="7" name="KPI 2"/>
          <p:cNvSpPr/>
          <p:nvPr/>
        </p:nvSpPr>
        <p:spPr>
          <a:xfrm>
            <a:off x="6035040" y="1280160"/>
            <a:ext cx="2560320" cy="2926080"/>
          </a:xfrm>
          <a:prstGeom prst="roundRect">
            <a:avLst>
              <a:gd name="adj" fmla="val 2857"/>
            </a:avLst>
          </a:prstGeom>
          <a:solidFill>
            <a:schemeClr val="bg1"/>
          </a:solidFill>
          <a:ln w="9525">
            <a:solidFill>
              <a:srgbClr val="DDE5F0"/>
            </a:solidFill>
            <a:prstDash val="solid"/>
          </a:ln>
          <a:effectLst>
            <a:outerShdw algn="bl" rotWithShape="0">
              <a:srgbClr val="000000">
                <a:alpha val="0"/>
              </a:srgbClr>
            </a:outerShdw>
          </a:effectLst>
        </p:spPr>
      </p:sp>
      <p:sp>
        <p:nvSpPr>
          <p:cNvPr id="8" name="KPI bar 2"/>
          <p:cNvSpPr/>
          <p:nvPr/>
        </p:nvSpPr>
        <p:spPr>
          <a:xfrm>
            <a:off x="6217920" y="1280160"/>
            <a:ext cx="2194560" cy="91440"/>
          </a:xfrm>
          <a:prstGeom prst="rect">
            <a:avLst/>
          </a:prstGeom>
          <a:solidFill>
            <a:schemeClr val="accent5"/>
          </a:solidFill>
          <a:ln w="12700">
            <a:solidFill>
              <a:schemeClr val="accent5"/>
            </a:solidFill>
            <a:prstDash val="solid"/>
          </a:ln>
        </p:spPr>
      </p:sp>
      <p:sp>
        <p:nvSpPr>
          <p:cNvPr id="9" name="Text 7"/>
          <p:cNvSpPr txBox="1"/>
          <p:nvPr/>
        </p:nvSpPr>
        <p:spPr>
          <a:xfrm>
            <a:off x="731520" y="1645920"/>
            <a:ext cx="2194560" cy="822960"/>
          </a:xfrm>
          <a:prstGeom prst="rect">
            <a:avLst/>
          </a:prstGeom>
          <a:noFill/>
          <a:ln/>
        </p:spPr>
        <p:txBody>
          <a:bodyPr wrap="square" lIns="0" tIns="0" rIns="0" bIns="0" rtlCol="0" anchor="ctr"/>
          <a:lstStyle/>
          <a:p>
            <a:pPr marL="0" indent="0">
              <a:buNone/>
            </a:pPr>
            <a:r>
              <a:rPr lang="en-US" sz="4000" b="1" dirty="0">
                <a:solidFill>
                  <a:schemeClr val="tx2"/>
                </a:solidFill>
              </a:rPr>
              <a:t>22,214</a:t>
            </a:r>
            <a:endParaRPr lang="en-US" sz="4000" dirty="0"/>
          </a:p>
        </p:txBody>
      </p:sp>
      <p:sp>
        <p:nvSpPr>
          <p:cNvPr id="10" name="Text 8"/>
          <p:cNvSpPr txBox="1"/>
          <p:nvPr/>
        </p:nvSpPr>
        <p:spPr>
          <a:xfrm>
            <a:off x="731520" y="2651760"/>
            <a:ext cx="2194560" cy="914400"/>
          </a:xfrm>
          <a:prstGeom prst="rect">
            <a:avLst/>
          </a:prstGeom>
          <a:noFill/>
          <a:ln/>
        </p:spPr>
        <p:txBody>
          <a:bodyPr wrap="square" lIns="0" tIns="0" rIns="0" bIns="0" rtlCol="0" anchor="t"/>
          <a:lstStyle/>
          <a:p>
            <a:pPr marL="0" indent="0">
              <a:buNone/>
            </a:pPr>
            <a:r>
              <a:rPr lang="en-US" sz="1600" dirty="0">
                <a:solidFill>
                  <a:schemeClr val="tx1"/>
                </a:solidFill>
              </a:rPr>
              <a:t>Number of employees</a:t>
            </a:r>
            <a:endParaRPr lang="en-US" sz="1600" dirty="0"/>
          </a:p>
        </p:txBody>
      </p:sp>
      <p:sp>
        <p:nvSpPr>
          <p:cNvPr id="11" name="Text 9"/>
          <p:cNvSpPr txBox="1"/>
          <p:nvPr/>
        </p:nvSpPr>
        <p:spPr>
          <a:xfrm>
            <a:off x="3474720" y="1645920"/>
            <a:ext cx="2194560" cy="1097280"/>
          </a:xfrm>
          <a:prstGeom prst="rect">
            <a:avLst/>
          </a:prstGeom>
          <a:noFill/>
          <a:ln/>
        </p:spPr>
        <p:txBody>
          <a:bodyPr wrap="square" lIns="0" tIns="0" rIns="0" bIns="0" rtlCol="0" anchor="ctr"/>
          <a:lstStyle/>
          <a:p>
            <a:pPr marL="0" indent="0">
              <a:buNone/>
            </a:pPr>
            <a:r>
              <a:rPr lang="en-US" sz="2800" b="1" dirty="0">
                <a:solidFill>
                  <a:schemeClr val="tx2"/>
                </a:solidFill>
              </a:rPr>
              <a:t>75.2% HQ</a:t>
            </a:r>
            <a:endParaRPr lang="en-US" sz="2800" dirty="0"/>
          </a:p>
          <a:p>
            <a:pPr marL="0" indent="0">
              <a:buNone/>
            </a:pPr>
            <a:r>
              <a:rPr lang="en-US" sz="2800" b="1" dirty="0">
                <a:solidFill>
                  <a:schemeClr val="tx2"/>
                </a:solidFill>
              </a:rPr>
              <a:t>24.8% Remote</a:t>
            </a:r>
            <a:endParaRPr lang="en-US" sz="2800" dirty="0"/>
          </a:p>
        </p:txBody>
      </p:sp>
      <p:sp>
        <p:nvSpPr>
          <p:cNvPr id="12" name="Text 10"/>
          <p:cNvSpPr txBox="1"/>
          <p:nvPr/>
        </p:nvSpPr>
        <p:spPr>
          <a:xfrm>
            <a:off x="3474720" y="2926080"/>
            <a:ext cx="2194560" cy="914400"/>
          </a:xfrm>
          <a:prstGeom prst="rect">
            <a:avLst/>
          </a:prstGeom>
          <a:noFill/>
          <a:ln/>
        </p:spPr>
        <p:txBody>
          <a:bodyPr wrap="square" lIns="0" tIns="0" rIns="0" bIns="0" rtlCol="0" anchor="t"/>
          <a:lstStyle/>
          <a:p>
            <a:pPr marL="0" indent="0">
              <a:buNone/>
            </a:pPr>
            <a:r>
              <a:rPr lang="en-US" sz="1600" dirty="0">
                <a:solidFill>
                  <a:schemeClr val="tx1"/>
                </a:solidFill>
              </a:rPr>
              <a:t>Percent of workers at HQ and working remotely</a:t>
            </a:r>
            <a:endParaRPr lang="en-US" sz="1600" dirty="0"/>
          </a:p>
        </p:txBody>
      </p:sp>
      <p:sp>
        <p:nvSpPr>
          <p:cNvPr id="13" name="Text 11"/>
          <p:cNvSpPr txBox="1"/>
          <p:nvPr/>
        </p:nvSpPr>
        <p:spPr>
          <a:xfrm>
            <a:off x="6217920" y="1645920"/>
            <a:ext cx="2194560" cy="822960"/>
          </a:xfrm>
          <a:prstGeom prst="rect">
            <a:avLst/>
          </a:prstGeom>
          <a:noFill/>
          <a:ln/>
        </p:spPr>
        <p:txBody>
          <a:bodyPr wrap="square" lIns="0" tIns="0" rIns="0" bIns="0" rtlCol="0" anchor="ctr"/>
          <a:lstStyle/>
          <a:p>
            <a:pPr marL="0" indent="0">
              <a:buNone/>
            </a:pPr>
            <a:r>
              <a:rPr lang="en-US" sz="4000" b="1" dirty="0">
                <a:solidFill>
                  <a:schemeClr val="tx2"/>
                </a:solidFill>
              </a:rPr>
              <a:t>38.4</a:t>
            </a:r>
            <a:endParaRPr lang="en-US" sz="4000" dirty="0"/>
          </a:p>
        </p:txBody>
      </p:sp>
      <p:sp>
        <p:nvSpPr>
          <p:cNvPr id="14" name="Text 12"/>
          <p:cNvSpPr txBox="1"/>
          <p:nvPr/>
        </p:nvSpPr>
        <p:spPr>
          <a:xfrm>
            <a:off x="6217920" y="2651760"/>
            <a:ext cx="2194560" cy="914400"/>
          </a:xfrm>
          <a:prstGeom prst="rect">
            <a:avLst/>
          </a:prstGeom>
          <a:noFill/>
          <a:ln/>
        </p:spPr>
        <p:txBody>
          <a:bodyPr wrap="square" lIns="0" tIns="0" rIns="0" bIns="0" rtlCol="0" anchor="t"/>
          <a:lstStyle/>
          <a:p>
            <a:pPr marL="0" indent="0">
              <a:buNone/>
            </a:pPr>
            <a:r>
              <a:rPr lang="en-US" sz="1600" dirty="0">
                <a:solidFill>
                  <a:schemeClr val="tx1"/>
                </a:solidFill>
              </a:rPr>
              <a:t>Average age (years)</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Hiring rate by year</a:t>
            </a:r>
            <a:endParaRPr lang="en-US" sz="3200" dirty="0"/>
          </a:p>
        </p:txBody>
      </p:sp>
      <p:sp>
        <p:nvSpPr>
          <p:cNvPr id="3" name="Frame Line chart of hires per year"/>
          <p:cNvSpPr/>
          <p:nvPr/>
        </p:nvSpPr>
        <p:spPr>
          <a:xfrm>
            <a:off x="548640" y="1188720"/>
            <a:ext cx="8046720" cy="2880360"/>
          </a:xfrm>
          <a:prstGeom prst="roundRect">
            <a:avLst>
              <a:gd name="adj" fmla="val 2540"/>
            </a:avLst>
          </a:prstGeom>
          <a:solidFill>
            <a:schemeClr val="bg1"/>
          </a:solidFill>
          <a:ln w="9525">
            <a:solidFill>
              <a:srgbClr val="DDE5F0"/>
            </a:solidFill>
            <a:prstDash val="solid"/>
          </a:ln>
          <a:effectLst>
            <a:outerShdw algn="bl" rotWithShape="0">
              <a:srgbClr val="000000">
                <a:alpha val="0"/>
              </a:srgbClr>
            </a:outerShdw>
          </a:effectLst>
        </p:spPr>
      </p:sp>
      <p:pic>
        <p:nvPicPr>
          <p:cNvPr id="4" name="Image 0" descr="Line chart of hires per year"/>
          <p:cNvPicPr>
            <a:picLocks noChangeAspect="1"/>
          </p:cNvPicPr>
          <p:nvPr/>
        </p:nvPicPr>
        <p:blipFill>
          <a:blip r:embed="rId3"/>
          <a:stretch>
            <a:fillRect/>
          </a:stretch>
        </p:blipFill>
        <p:spPr>
          <a:xfrm>
            <a:off x="757864" y="1316736"/>
            <a:ext cx="7628272" cy="2624328"/>
          </a:xfrm>
          <a:prstGeom prst="rect">
            <a:avLst/>
          </a:prstGeom>
        </p:spPr>
      </p:pic>
      <p:sp>
        <p:nvSpPr>
          <p:cNvPr id="5" name="Chip hires a year"/>
          <p:cNvSpPr/>
          <p:nvPr/>
        </p:nvSpPr>
        <p:spPr>
          <a:xfrm>
            <a:off x="548640" y="4160520"/>
            <a:ext cx="2560320" cy="548640"/>
          </a:xfrm>
          <a:prstGeom prst="roundRect">
            <a:avLst>
              <a:gd name="adj" fmla="val 13333"/>
            </a:avLst>
          </a:prstGeom>
          <a:solidFill>
            <a:schemeClr val="bg1"/>
          </a:solidFill>
          <a:ln w="9525">
            <a:solidFill>
              <a:srgbClr val="DDE5F0"/>
            </a:solidFill>
            <a:prstDash val="solid"/>
          </a:ln>
          <a:effectLst>
            <a:outerShdw algn="bl" rotWithShape="0">
              <a:srgbClr val="000000">
                <a:alpha val="0"/>
              </a:srgbClr>
            </a:outerShdw>
          </a:effectLst>
        </p:spPr>
      </p:sp>
      <p:sp>
        <p:nvSpPr>
          <p:cNvPr id="6" name="Text 3"/>
          <p:cNvSpPr txBox="1"/>
          <p:nvPr/>
        </p:nvSpPr>
        <p:spPr>
          <a:xfrm>
            <a:off x="685800" y="4160520"/>
            <a:ext cx="2377440" cy="548640"/>
          </a:xfrm>
          <a:prstGeom prst="rect">
            <a:avLst/>
          </a:prstGeom>
          <a:noFill/>
          <a:ln/>
        </p:spPr>
        <p:txBody>
          <a:bodyPr wrap="square" lIns="0" tIns="0" rIns="0" bIns="0" rtlCol="0" anchor="ctr"/>
          <a:lstStyle/>
          <a:p>
            <a:pPr marL="0" indent="0">
              <a:buNone/>
            </a:pPr>
            <a:r>
              <a:rPr lang="en-US" sz="1600" b="1" dirty="0">
                <a:solidFill>
                  <a:schemeClr val="tx2"/>
                </a:solidFill>
              </a:rPr>
              <a:t>1,000–1,150  </a:t>
            </a:r>
            <a:r>
              <a:rPr lang="en-US" sz="1400" dirty="0">
                <a:solidFill>
                  <a:schemeClr val="tx1"/>
                </a:solidFill>
              </a:rPr>
              <a:t>hires a year</a:t>
            </a:r>
            <a:endParaRPr lang="en-US" sz="1400" dirty="0"/>
          </a:p>
        </p:txBody>
      </p:sp>
      <p:sp>
        <p:nvSpPr>
          <p:cNvPr id="7" name="Chip peak hires, in 2018"/>
          <p:cNvSpPr/>
          <p:nvPr/>
        </p:nvSpPr>
        <p:spPr>
          <a:xfrm>
            <a:off x="3291840" y="4160520"/>
            <a:ext cx="2560320" cy="548640"/>
          </a:xfrm>
          <a:prstGeom prst="roundRect">
            <a:avLst>
              <a:gd name="adj" fmla="val 13333"/>
            </a:avLst>
          </a:prstGeom>
          <a:solidFill>
            <a:schemeClr val="bg1"/>
          </a:solidFill>
          <a:ln w="9525">
            <a:solidFill>
              <a:srgbClr val="DDE5F0"/>
            </a:solidFill>
            <a:prstDash val="solid"/>
          </a:ln>
          <a:effectLst>
            <a:outerShdw algn="bl" rotWithShape="0">
              <a:srgbClr val="000000">
                <a:alpha val="0"/>
              </a:srgbClr>
            </a:outerShdw>
          </a:effectLst>
        </p:spPr>
      </p:sp>
      <p:sp>
        <p:nvSpPr>
          <p:cNvPr id="8" name="Text 5"/>
          <p:cNvSpPr txBox="1"/>
          <p:nvPr/>
        </p:nvSpPr>
        <p:spPr>
          <a:xfrm>
            <a:off x="3429000" y="4160520"/>
            <a:ext cx="2377440" cy="548640"/>
          </a:xfrm>
          <a:prstGeom prst="rect">
            <a:avLst/>
          </a:prstGeom>
          <a:noFill/>
          <a:ln/>
        </p:spPr>
        <p:txBody>
          <a:bodyPr wrap="square" lIns="0" tIns="0" rIns="0" bIns="0" rtlCol="0" anchor="ctr"/>
          <a:lstStyle/>
          <a:p>
            <a:pPr marL="0" indent="0">
              <a:buNone/>
            </a:pPr>
            <a:r>
              <a:rPr lang="en-US" sz="1600" b="1" dirty="0">
                <a:solidFill>
                  <a:schemeClr val="tx2"/>
                </a:solidFill>
              </a:rPr>
              <a:t>1,147  </a:t>
            </a:r>
            <a:r>
              <a:rPr lang="en-US" sz="1400" dirty="0">
                <a:solidFill>
                  <a:schemeClr val="tx1"/>
                </a:solidFill>
              </a:rPr>
              <a:t>peak hires, in 2018</a:t>
            </a:r>
            <a:endParaRPr lang="en-US" sz="1400" dirty="0"/>
          </a:p>
        </p:txBody>
      </p:sp>
      <p:sp>
        <p:nvSpPr>
          <p:cNvPr id="9" name="Chip lowest full year, 2020"/>
          <p:cNvSpPr/>
          <p:nvPr/>
        </p:nvSpPr>
        <p:spPr>
          <a:xfrm>
            <a:off x="6035040" y="4160520"/>
            <a:ext cx="2560320" cy="548640"/>
          </a:xfrm>
          <a:prstGeom prst="roundRect">
            <a:avLst>
              <a:gd name="adj" fmla="val 13333"/>
            </a:avLst>
          </a:prstGeom>
          <a:solidFill>
            <a:schemeClr val="bg1"/>
          </a:solidFill>
          <a:ln w="9525">
            <a:solidFill>
              <a:srgbClr val="DDE5F0"/>
            </a:solidFill>
            <a:prstDash val="solid"/>
          </a:ln>
          <a:effectLst>
            <a:outerShdw algn="bl" rotWithShape="0">
              <a:srgbClr val="000000">
                <a:alpha val="0"/>
              </a:srgbClr>
            </a:outerShdw>
          </a:effectLst>
        </p:spPr>
      </p:sp>
      <p:sp>
        <p:nvSpPr>
          <p:cNvPr id="10" name="Text 7"/>
          <p:cNvSpPr txBox="1"/>
          <p:nvPr/>
        </p:nvSpPr>
        <p:spPr>
          <a:xfrm>
            <a:off x="6172200" y="4160520"/>
            <a:ext cx="2377440" cy="548640"/>
          </a:xfrm>
          <a:prstGeom prst="rect">
            <a:avLst/>
          </a:prstGeom>
          <a:noFill/>
          <a:ln/>
        </p:spPr>
        <p:txBody>
          <a:bodyPr wrap="square" lIns="0" tIns="0" rIns="0" bIns="0" rtlCol="0" anchor="ctr"/>
          <a:lstStyle/>
          <a:p>
            <a:pPr marL="0" indent="0">
              <a:buNone/>
            </a:pPr>
            <a:r>
              <a:rPr lang="en-US" sz="1600" b="1" dirty="0">
                <a:solidFill>
                  <a:schemeClr val="tx2"/>
                </a:solidFill>
              </a:rPr>
              <a:t>1,012  </a:t>
            </a:r>
            <a:r>
              <a:rPr lang="en-US" sz="1400" dirty="0">
                <a:solidFill>
                  <a:schemeClr val="tx1"/>
                </a:solidFill>
              </a:rPr>
              <a:t>lowest full year, 2020</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Employees by gender</a:t>
            </a:r>
            <a:endParaRPr lang="en-US" sz="3200" dirty="0"/>
          </a:p>
        </p:txBody>
      </p:sp>
      <p:sp>
        <p:nvSpPr>
          <p:cNvPr id="3" name="Frame Employees by gender"/>
          <p:cNvSpPr/>
          <p:nvPr/>
        </p:nvSpPr>
        <p:spPr>
          <a:xfrm>
            <a:off x="548640" y="1188720"/>
            <a:ext cx="5394960" cy="3429000"/>
          </a:xfrm>
          <a:prstGeom prst="roundRect">
            <a:avLst>
              <a:gd name="adj" fmla="val 2133"/>
            </a:avLst>
          </a:prstGeom>
          <a:solidFill>
            <a:schemeClr val="bg1"/>
          </a:solidFill>
          <a:ln w="9525">
            <a:solidFill>
              <a:srgbClr val="DDE5F0"/>
            </a:solidFill>
            <a:prstDash val="solid"/>
          </a:ln>
          <a:effectLst>
            <a:outerShdw algn="bl" rotWithShape="0">
              <a:srgbClr val="000000">
                <a:alpha val="0"/>
              </a:srgbClr>
            </a:outerShdw>
          </a:effectLst>
        </p:spPr>
      </p:sp>
      <p:pic>
        <p:nvPicPr>
          <p:cNvPr id="4" name="Image 0" descr="Employees by gender"/>
          <p:cNvPicPr>
            <a:picLocks noChangeAspect="1"/>
          </p:cNvPicPr>
          <p:nvPr/>
        </p:nvPicPr>
        <p:blipFill>
          <a:blip r:embed="rId3"/>
          <a:stretch>
            <a:fillRect/>
          </a:stretch>
        </p:blipFill>
        <p:spPr>
          <a:xfrm>
            <a:off x="851896" y="1316736"/>
            <a:ext cx="4788448" cy="3172968"/>
          </a:xfrm>
          <a:prstGeom prst="rect">
            <a:avLst/>
          </a:prstGeom>
        </p:spPr>
      </p:pic>
      <p:sp>
        <p:nvSpPr>
          <p:cNvPr id="5" name="Stat Male: 11,288 employees"/>
          <p:cNvSpPr/>
          <p:nvPr/>
        </p:nvSpPr>
        <p:spPr>
          <a:xfrm>
            <a:off x="6172200" y="118872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6" name="Accent Male: 11,288 employees"/>
          <p:cNvSpPr/>
          <p:nvPr/>
        </p:nvSpPr>
        <p:spPr>
          <a:xfrm>
            <a:off x="6172200" y="1298448"/>
            <a:ext cx="73152" cy="832104"/>
          </a:xfrm>
          <a:prstGeom prst="rect">
            <a:avLst/>
          </a:prstGeom>
          <a:solidFill>
            <a:schemeClr val="accent1"/>
          </a:solidFill>
          <a:ln w="12700">
            <a:solidFill>
              <a:schemeClr val="accent1"/>
            </a:solidFill>
            <a:prstDash val="solid"/>
          </a:ln>
        </p:spPr>
      </p:sp>
      <p:sp>
        <p:nvSpPr>
          <p:cNvPr id="7" name="Text 4"/>
          <p:cNvSpPr txBox="1"/>
          <p:nvPr/>
        </p:nvSpPr>
        <p:spPr>
          <a:xfrm>
            <a:off x="6400800" y="126187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50.81%</a:t>
            </a:r>
            <a:endParaRPr lang="en-US" sz="2800" dirty="0"/>
          </a:p>
        </p:txBody>
      </p:sp>
      <p:sp>
        <p:nvSpPr>
          <p:cNvPr id="8" name="Text 5"/>
          <p:cNvSpPr txBox="1"/>
          <p:nvPr/>
        </p:nvSpPr>
        <p:spPr>
          <a:xfrm>
            <a:off x="6400800" y="1714500"/>
            <a:ext cx="2057400" cy="483718"/>
          </a:xfrm>
          <a:prstGeom prst="rect">
            <a:avLst/>
          </a:prstGeom>
          <a:noFill/>
          <a:ln/>
        </p:spPr>
        <p:txBody>
          <a:bodyPr wrap="square" lIns="0" tIns="0" rIns="0" bIns="0" rtlCol="0" anchor="t"/>
          <a:lstStyle/>
          <a:p>
            <a:pPr marL="0" indent="0">
              <a:buNone/>
            </a:pPr>
            <a:r>
              <a:rPr lang="en-US" sz="1400" dirty="0">
                <a:solidFill>
                  <a:schemeClr val="tx1"/>
                </a:solidFill>
              </a:rPr>
              <a:t>Male: 11,288 employees</a:t>
            </a:r>
            <a:endParaRPr lang="en-US" sz="1400" dirty="0"/>
          </a:p>
        </p:txBody>
      </p:sp>
      <p:sp>
        <p:nvSpPr>
          <p:cNvPr id="9" name="Stat Female: 10,321 employees"/>
          <p:cNvSpPr/>
          <p:nvPr/>
        </p:nvSpPr>
        <p:spPr>
          <a:xfrm>
            <a:off x="6172200" y="237744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0" name="Accent Female: 10,321 employees"/>
          <p:cNvSpPr/>
          <p:nvPr/>
        </p:nvSpPr>
        <p:spPr>
          <a:xfrm>
            <a:off x="6172200" y="2487168"/>
            <a:ext cx="73152" cy="832104"/>
          </a:xfrm>
          <a:prstGeom prst="rect">
            <a:avLst/>
          </a:prstGeom>
          <a:solidFill>
            <a:schemeClr val="accent2"/>
          </a:solidFill>
          <a:ln w="12700">
            <a:solidFill>
              <a:schemeClr val="accent2"/>
            </a:solidFill>
            <a:prstDash val="solid"/>
          </a:ln>
        </p:spPr>
      </p:sp>
      <p:sp>
        <p:nvSpPr>
          <p:cNvPr id="11" name="Text 8"/>
          <p:cNvSpPr txBox="1"/>
          <p:nvPr/>
        </p:nvSpPr>
        <p:spPr>
          <a:xfrm>
            <a:off x="6400800" y="245059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46.46%</a:t>
            </a:r>
            <a:endParaRPr lang="en-US" sz="2800" dirty="0"/>
          </a:p>
        </p:txBody>
      </p:sp>
      <p:sp>
        <p:nvSpPr>
          <p:cNvPr id="12" name="Text 9"/>
          <p:cNvSpPr txBox="1"/>
          <p:nvPr/>
        </p:nvSpPr>
        <p:spPr>
          <a:xfrm>
            <a:off x="6400800" y="2903220"/>
            <a:ext cx="2057400" cy="483718"/>
          </a:xfrm>
          <a:prstGeom prst="rect">
            <a:avLst/>
          </a:prstGeom>
          <a:noFill/>
          <a:ln/>
        </p:spPr>
        <p:txBody>
          <a:bodyPr wrap="square" lIns="0" tIns="0" rIns="0" bIns="0" rtlCol="0" anchor="t"/>
          <a:lstStyle/>
          <a:p>
            <a:pPr marL="0" indent="0">
              <a:buNone/>
            </a:pPr>
            <a:r>
              <a:rPr lang="en-US" sz="1400" dirty="0">
                <a:solidFill>
                  <a:schemeClr val="tx1"/>
                </a:solidFill>
              </a:rPr>
              <a:t>Female: 10,321 employees</a:t>
            </a:r>
            <a:endParaRPr lang="en-US" sz="1400" dirty="0"/>
          </a:p>
        </p:txBody>
      </p:sp>
      <p:sp>
        <p:nvSpPr>
          <p:cNvPr id="13" name="Stat Non-Conforming: 605 employees"/>
          <p:cNvSpPr/>
          <p:nvPr/>
        </p:nvSpPr>
        <p:spPr>
          <a:xfrm>
            <a:off x="6172200" y="356616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4" name="Accent Non-Conforming: 605 employees"/>
          <p:cNvSpPr/>
          <p:nvPr/>
        </p:nvSpPr>
        <p:spPr>
          <a:xfrm>
            <a:off x="6172200" y="3675888"/>
            <a:ext cx="73152" cy="832104"/>
          </a:xfrm>
          <a:prstGeom prst="rect">
            <a:avLst/>
          </a:prstGeom>
          <a:solidFill>
            <a:schemeClr val="accent5"/>
          </a:solidFill>
          <a:ln w="12700">
            <a:solidFill>
              <a:schemeClr val="accent5"/>
            </a:solidFill>
            <a:prstDash val="solid"/>
          </a:ln>
        </p:spPr>
      </p:sp>
      <p:sp>
        <p:nvSpPr>
          <p:cNvPr id="15" name="Text 12"/>
          <p:cNvSpPr txBox="1"/>
          <p:nvPr/>
        </p:nvSpPr>
        <p:spPr>
          <a:xfrm>
            <a:off x="6400800" y="363931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2.72%</a:t>
            </a:r>
            <a:endParaRPr lang="en-US" sz="2800" dirty="0"/>
          </a:p>
        </p:txBody>
      </p:sp>
      <p:sp>
        <p:nvSpPr>
          <p:cNvPr id="16" name="Text 13"/>
          <p:cNvSpPr txBox="1"/>
          <p:nvPr/>
        </p:nvSpPr>
        <p:spPr>
          <a:xfrm>
            <a:off x="6400800" y="4091940"/>
            <a:ext cx="2057400" cy="483718"/>
          </a:xfrm>
          <a:prstGeom prst="rect">
            <a:avLst/>
          </a:prstGeom>
          <a:noFill/>
          <a:ln/>
        </p:spPr>
        <p:txBody>
          <a:bodyPr wrap="square" lIns="0" tIns="0" rIns="0" bIns="0" rtlCol="0" anchor="t"/>
          <a:lstStyle/>
          <a:p>
            <a:pPr marL="0" indent="0">
              <a:buNone/>
            </a:pPr>
            <a:r>
              <a:rPr lang="en-US" sz="1400" dirty="0">
                <a:solidFill>
                  <a:schemeClr val="tx1"/>
                </a:solidFill>
              </a:rPr>
              <a:t>Non-Conforming: 605 employees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Employees by state</a:t>
            </a:r>
            <a:endParaRPr lang="en-US" sz="3200" dirty="0"/>
          </a:p>
        </p:txBody>
      </p:sp>
      <p:sp>
        <p:nvSpPr>
          <p:cNvPr id="3" name="Frame Employees by state"/>
          <p:cNvSpPr/>
          <p:nvPr/>
        </p:nvSpPr>
        <p:spPr>
          <a:xfrm>
            <a:off x="548640" y="1188720"/>
            <a:ext cx="5394960" cy="3429000"/>
          </a:xfrm>
          <a:prstGeom prst="roundRect">
            <a:avLst>
              <a:gd name="adj" fmla="val 2133"/>
            </a:avLst>
          </a:prstGeom>
          <a:solidFill>
            <a:schemeClr val="bg1"/>
          </a:solidFill>
          <a:ln w="9525">
            <a:solidFill>
              <a:srgbClr val="DDE5F0"/>
            </a:solidFill>
            <a:prstDash val="solid"/>
          </a:ln>
          <a:effectLst>
            <a:outerShdw algn="bl" rotWithShape="0">
              <a:srgbClr val="000000">
                <a:alpha val="0"/>
              </a:srgbClr>
            </a:outerShdw>
          </a:effectLst>
        </p:spPr>
      </p:sp>
      <p:pic>
        <p:nvPicPr>
          <p:cNvPr id="4" name="Image 0" descr="Employees by state"/>
          <p:cNvPicPr>
            <a:picLocks noChangeAspect="1"/>
          </p:cNvPicPr>
          <p:nvPr/>
        </p:nvPicPr>
        <p:blipFill>
          <a:blip r:embed="rId3"/>
          <a:stretch>
            <a:fillRect/>
          </a:stretch>
        </p:blipFill>
        <p:spPr>
          <a:xfrm>
            <a:off x="703979" y="1316736"/>
            <a:ext cx="5084281" cy="3172968"/>
          </a:xfrm>
          <a:prstGeom prst="rect">
            <a:avLst/>
          </a:prstGeom>
        </p:spPr>
      </p:pic>
      <p:sp>
        <p:nvSpPr>
          <p:cNvPr id="5" name="Stat of employees are in Ohio (18,025)"/>
          <p:cNvSpPr/>
          <p:nvPr/>
        </p:nvSpPr>
        <p:spPr>
          <a:xfrm>
            <a:off x="6172200" y="118872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6" name="Accent of employees are in Ohio (18,025)"/>
          <p:cNvSpPr/>
          <p:nvPr/>
        </p:nvSpPr>
        <p:spPr>
          <a:xfrm>
            <a:off x="6172200" y="1298448"/>
            <a:ext cx="73152" cy="832104"/>
          </a:xfrm>
          <a:prstGeom prst="rect">
            <a:avLst/>
          </a:prstGeom>
          <a:solidFill>
            <a:schemeClr val="accent1"/>
          </a:solidFill>
          <a:ln w="12700">
            <a:solidFill>
              <a:schemeClr val="accent1"/>
            </a:solidFill>
            <a:prstDash val="solid"/>
          </a:ln>
        </p:spPr>
      </p:sp>
      <p:sp>
        <p:nvSpPr>
          <p:cNvPr id="7" name="Text 4"/>
          <p:cNvSpPr txBox="1"/>
          <p:nvPr/>
        </p:nvSpPr>
        <p:spPr>
          <a:xfrm>
            <a:off x="6400800" y="126187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81%</a:t>
            </a:r>
            <a:endParaRPr lang="en-US" sz="2800" dirty="0"/>
          </a:p>
        </p:txBody>
      </p:sp>
      <p:sp>
        <p:nvSpPr>
          <p:cNvPr id="8" name="Text 5"/>
          <p:cNvSpPr txBox="1"/>
          <p:nvPr/>
        </p:nvSpPr>
        <p:spPr>
          <a:xfrm>
            <a:off x="6400800" y="1714500"/>
            <a:ext cx="2057400" cy="483718"/>
          </a:xfrm>
          <a:prstGeom prst="rect">
            <a:avLst/>
          </a:prstGeom>
          <a:noFill/>
          <a:ln/>
        </p:spPr>
        <p:txBody>
          <a:bodyPr wrap="square" lIns="0" tIns="0" rIns="0" bIns="0" rtlCol="0" anchor="t"/>
          <a:lstStyle/>
          <a:p>
            <a:pPr marL="0" indent="0">
              <a:buNone/>
            </a:pPr>
            <a:r>
              <a:rPr lang="en-US" sz="1400" dirty="0">
                <a:solidFill>
                  <a:schemeClr val="tx1"/>
                </a:solidFill>
              </a:rPr>
              <a:t>of employees are in Ohio (18,025)</a:t>
            </a:r>
            <a:endParaRPr lang="en-US" sz="1400" dirty="0"/>
          </a:p>
        </p:txBody>
      </p:sp>
      <p:sp>
        <p:nvSpPr>
          <p:cNvPr id="9" name="Stat in Pennsylvania, the next largest"/>
          <p:cNvSpPr/>
          <p:nvPr/>
        </p:nvSpPr>
        <p:spPr>
          <a:xfrm>
            <a:off x="6172200" y="237744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0" name="Accent in Pennsylvania, the next largest"/>
          <p:cNvSpPr/>
          <p:nvPr/>
        </p:nvSpPr>
        <p:spPr>
          <a:xfrm>
            <a:off x="6172200" y="2487168"/>
            <a:ext cx="73152" cy="832104"/>
          </a:xfrm>
          <a:prstGeom prst="rect">
            <a:avLst/>
          </a:prstGeom>
          <a:solidFill>
            <a:schemeClr val="accent2"/>
          </a:solidFill>
          <a:ln w="12700">
            <a:solidFill>
              <a:schemeClr val="accent2"/>
            </a:solidFill>
            <a:prstDash val="solid"/>
          </a:ln>
        </p:spPr>
      </p:sp>
      <p:sp>
        <p:nvSpPr>
          <p:cNvPr id="11" name="Text 8"/>
          <p:cNvSpPr txBox="1"/>
          <p:nvPr/>
        </p:nvSpPr>
        <p:spPr>
          <a:xfrm>
            <a:off x="6400800" y="245059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1,115</a:t>
            </a:r>
            <a:endParaRPr lang="en-US" sz="2800" dirty="0"/>
          </a:p>
        </p:txBody>
      </p:sp>
      <p:sp>
        <p:nvSpPr>
          <p:cNvPr id="12" name="Text 9"/>
          <p:cNvSpPr txBox="1"/>
          <p:nvPr/>
        </p:nvSpPr>
        <p:spPr>
          <a:xfrm>
            <a:off x="6400800" y="2903220"/>
            <a:ext cx="2057400" cy="483718"/>
          </a:xfrm>
          <a:prstGeom prst="rect">
            <a:avLst/>
          </a:prstGeom>
          <a:noFill/>
          <a:ln/>
        </p:spPr>
        <p:txBody>
          <a:bodyPr wrap="square" lIns="0" tIns="0" rIns="0" bIns="0" rtlCol="0" anchor="t"/>
          <a:lstStyle/>
          <a:p>
            <a:pPr marL="0" indent="0">
              <a:buNone/>
            </a:pPr>
            <a:r>
              <a:rPr lang="en-US" sz="1400" dirty="0">
                <a:solidFill>
                  <a:schemeClr val="tx1"/>
                </a:solidFill>
              </a:rPr>
              <a:t>in Pennsylvania, the next largest</a:t>
            </a:r>
            <a:endParaRPr lang="en-US" sz="1400" dirty="0"/>
          </a:p>
        </p:txBody>
      </p:sp>
      <p:sp>
        <p:nvSpPr>
          <p:cNvPr id="13" name="Stat in Wisconsin, the smallest"/>
          <p:cNvSpPr/>
          <p:nvPr/>
        </p:nvSpPr>
        <p:spPr>
          <a:xfrm>
            <a:off x="6172200" y="356616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4" name="Accent in Wisconsin, the smallest"/>
          <p:cNvSpPr/>
          <p:nvPr/>
        </p:nvSpPr>
        <p:spPr>
          <a:xfrm>
            <a:off x="6172200" y="3675888"/>
            <a:ext cx="73152" cy="832104"/>
          </a:xfrm>
          <a:prstGeom prst="rect">
            <a:avLst/>
          </a:prstGeom>
          <a:solidFill>
            <a:schemeClr val="accent5"/>
          </a:solidFill>
          <a:ln w="12700">
            <a:solidFill>
              <a:schemeClr val="accent5"/>
            </a:solidFill>
            <a:prstDash val="solid"/>
          </a:ln>
        </p:spPr>
      </p:sp>
      <p:sp>
        <p:nvSpPr>
          <p:cNvPr id="15" name="Text 12"/>
          <p:cNvSpPr txBox="1"/>
          <p:nvPr/>
        </p:nvSpPr>
        <p:spPr>
          <a:xfrm>
            <a:off x="6400800" y="363931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382</a:t>
            </a:r>
            <a:endParaRPr lang="en-US" sz="2800" dirty="0"/>
          </a:p>
        </p:txBody>
      </p:sp>
      <p:sp>
        <p:nvSpPr>
          <p:cNvPr id="16" name="Text 13"/>
          <p:cNvSpPr txBox="1"/>
          <p:nvPr/>
        </p:nvSpPr>
        <p:spPr>
          <a:xfrm>
            <a:off x="6400800" y="4091940"/>
            <a:ext cx="2057400" cy="483718"/>
          </a:xfrm>
          <a:prstGeom prst="rect">
            <a:avLst/>
          </a:prstGeom>
          <a:noFill/>
          <a:ln/>
        </p:spPr>
        <p:txBody>
          <a:bodyPr wrap="square" lIns="0" tIns="0" rIns="0" bIns="0" rtlCol="0" anchor="t"/>
          <a:lstStyle/>
          <a:p>
            <a:pPr marL="0" indent="0">
              <a:buNone/>
            </a:pPr>
            <a:r>
              <a:rPr lang="en-US" sz="1400" dirty="0">
                <a:solidFill>
                  <a:schemeClr val="tx1"/>
                </a:solidFill>
              </a:rPr>
              <a:t>in Wisconsin, the smallest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Employees by department</a:t>
            </a:r>
            <a:endParaRPr lang="en-US" sz="3200" dirty="0"/>
          </a:p>
        </p:txBody>
      </p:sp>
      <p:sp>
        <p:nvSpPr>
          <p:cNvPr id="3" name="Frame Employees by department"/>
          <p:cNvSpPr/>
          <p:nvPr/>
        </p:nvSpPr>
        <p:spPr>
          <a:xfrm>
            <a:off x="548640" y="1188720"/>
            <a:ext cx="5394960" cy="3429000"/>
          </a:xfrm>
          <a:prstGeom prst="roundRect">
            <a:avLst>
              <a:gd name="adj" fmla="val 2133"/>
            </a:avLst>
          </a:prstGeom>
          <a:solidFill>
            <a:schemeClr val="bg1"/>
          </a:solidFill>
          <a:ln w="9525">
            <a:solidFill>
              <a:srgbClr val="DDE5F0"/>
            </a:solidFill>
            <a:prstDash val="solid"/>
          </a:ln>
          <a:effectLst>
            <a:outerShdw algn="bl" rotWithShape="0">
              <a:srgbClr val="000000">
                <a:alpha val="0"/>
              </a:srgbClr>
            </a:outerShdw>
          </a:effectLst>
        </p:spPr>
      </p:sp>
      <p:pic>
        <p:nvPicPr>
          <p:cNvPr id="4" name="Image 0" descr="Employees by department"/>
          <p:cNvPicPr>
            <a:picLocks noChangeAspect="1"/>
          </p:cNvPicPr>
          <p:nvPr/>
        </p:nvPicPr>
        <p:blipFill>
          <a:blip r:embed="rId3"/>
          <a:stretch>
            <a:fillRect/>
          </a:stretch>
        </p:blipFill>
        <p:spPr>
          <a:xfrm>
            <a:off x="676656" y="1329369"/>
            <a:ext cx="5138928" cy="3147702"/>
          </a:xfrm>
          <a:prstGeom prst="rect">
            <a:avLst/>
          </a:prstGeom>
        </p:spPr>
      </p:pic>
      <p:sp>
        <p:nvSpPr>
          <p:cNvPr id="5" name="Stat work in Engineering (6,686)"/>
          <p:cNvSpPr/>
          <p:nvPr/>
        </p:nvSpPr>
        <p:spPr>
          <a:xfrm>
            <a:off x="6172200" y="118872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6" name="Accent work in Engineering (6,686)"/>
          <p:cNvSpPr/>
          <p:nvPr/>
        </p:nvSpPr>
        <p:spPr>
          <a:xfrm>
            <a:off x="6172200" y="1298448"/>
            <a:ext cx="73152" cy="832104"/>
          </a:xfrm>
          <a:prstGeom prst="rect">
            <a:avLst/>
          </a:prstGeom>
          <a:solidFill>
            <a:schemeClr val="accent1"/>
          </a:solidFill>
          <a:ln w="12700">
            <a:solidFill>
              <a:schemeClr val="accent1"/>
            </a:solidFill>
            <a:prstDash val="solid"/>
          </a:ln>
        </p:spPr>
      </p:sp>
      <p:sp>
        <p:nvSpPr>
          <p:cNvPr id="7" name="Text 4"/>
          <p:cNvSpPr txBox="1"/>
          <p:nvPr/>
        </p:nvSpPr>
        <p:spPr>
          <a:xfrm>
            <a:off x="6400800" y="126187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30%</a:t>
            </a:r>
            <a:endParaRPr lang="en-US" sz="2800" dirty="0"/>
          </a:p>
        </p:txBody>
      </p:sp>
      <p:sp>
        <p:nvSpPr>
          <p:cNvPr id="8" name="Text 5"/>
          <p:cNvSpPr txBox="1"/>
          <p:nvPr/>
        </p:nvSpPr>
        <p:spPr>
          <a:xfrm>
            <a:off x="6400800" y="1714500"/>
            <a:ext cx="2057400" cy="483718"/>
          </a:xfrm>
          <a:prstGeom prst="rect">
            <a:avLst/>
          </a:prstGeom>
          <a:noFill/>
          <a:ln/>
        </p:spPr>
        <p:txBody>
          <a:bodyPr wrap="square" lIns="0" tIns="0" rIns="0" bIns="0" rtlCol="0" anchor="t"/>
          <a:lstStyle/>
          <a:p>
            <a:pPr marL="0" indent="0">
              <a:buNone/>
            </a:pPr>
            <a:r>
              <a:rPr lang="en-US" sz="1400" dirty="0">
                <a:solidFill>
                  <a:schemeClr val="tx1"/>
                </a:solidFill>
              </a:rPr>
              <a:t>work in Engineering (6,686)</a:t>
            </a:r>
            <a:endParaRPr lang="en-US" sz="1400" dirty="0"/>
          </a:p>
        </p:txBody>
      </p:sp>
      <p:sp>
        <p:nvSpPr>
          <p:cNvPr id="9" name="Stat in Accounting, the second largest"/>
          <p:cNvSpPr/>
          <p:nvPr/>
        </p:nvSpPr>
        <p:spPr>
          <a:xfrm>
            <a:off x="6172200" y="237744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0" name="Accent in Accounting, the second largest"/>
          <p:cNvSpPr/>
          <p:nvPr/>
        </p:nvSpPr>
        <p:spPr>
          <a:xfrm>
            <a:off x="6172200" y="2487168"/>
            <a:ext cx="73152" cy="832104"/>
          </a:xfrm>
          <a:prstGeom prst="rect">
            <a:avLst/>
          </a:prstGeom>
          <a:solidFill>
            <a:schemeClr val="accent2"/>
          </a:solidFill>
          <a:ln w="12700">
            <a:solidFill>
              <a:schemeClr val="accent2"/>
            </a:solidFill>
            <a:prstDash val="solid"/>
          </a:ln>
        </p:spPr>
      </p:sp>
      <p:sp>
        <p:nvSpPr>
          <p:cNvPr id="11" name="Text 8"/>
          <p:cNvSpPr txBox="1"/>
          <p:nvPr/>
        </p:nvSpPr>
        <p:spPr>
          <a:xfrm>
            <a:off x="6400800" y="245059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3,333</a:t>
            </a:r>
            <a:endParaRPr lang="en-US" sz="2800" dirty="0"/>
          </a:p>
        </p:txBody>
      </p:sp>
      <p:sp>
        <p:nvSpPr>
          <p:cNvPr id="12" name="Text 9"/>
          <p:cNvSpPr txBox="1"/>
          <p:nvPr/>
        </p:nvSpPr>
        <p:spPr>
          <a:xfrm>
            <a:off x="6400800" y="2903220"/>
            <a:ext cx="2057400" cy="483718"/>
          </a:xfrm>
          <a:prstGeom prst="rect">
            <a:avLst/>
          </a:prstGeom>
          <a:noFill/>
          <a:ln/>
        </p:spPr>
        <p:txBody>
          <a:bodyPr wrap="square" lIns="0" tIns="0" rIns="0" bIns="0" rtlCol="0" anchor="t"/>
          <a:lstStyle/>
          <a:p>
            <a:pPr marL="0" indent="0">
              <a:buNone/>
            </a:pPr>
            <a:r>
              <a:rPr lang="en-US" sz="1400" dirty="0">
                <a:solidFill>
                  <a:schemeClr val="tx1"/>
                </a:solidFill>
              </a:rPr>
              <a:t>in Accounting, the second largest</a:t>
            </a:r>
            <a:endParaRPr lang="en-US" sz="1400" dirty="0"/>
          </a:p>
        </p:txBody>
      </p:sp>
      <p:sp>
        <p:nvSpPr>
          <p:cNvPr id="13" name="Stat in Auditing, the smallest team"/>
          <p:cNvSpPr/>
          <p:nvPr/>
        </p:nvSpPr>
        <p:spPr>
          <a:xfrm>
            <a:off x="6172200" y="356616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4" name="Accent in Auditing, the smallest team"/>
          <p:cNvSpPr/>
          <p:nvPr/>
        </p:nvSpPr>
        <p:spPr>
          <a:xfrm>
            <a:off x="6172200" y="3675888"/>
            <a:ext cx="73152" cy="832104"/>
          </a:xfrm>
          <a:prstGeom prst="rect">
            <a:avLst/>
          </a:prstGeom>
          <a:solidFill>
            <a:schemeClr val="accent5"/>
          </a:solidFill>
          <a:ln w="12700">
            <a:solidFill>
              <a:schemeClr val="accent5"/>
            </a:solidFill>
            <a:prstDash val="solid"/>
          </a:ln>
        </p:spPr>
      </p:sp>
      <p:sp>
        <p:nvSpPr>
          <p:cNvPr id="15" name="Text 12"/>
          <p:cNvSpPr txBox="1"/>
          <p:nvPr/>
        </p:nvSpPr>
        <p:spPr>
          <a:xfrm>
            <a:off x="6400800" y="363931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52</a:t>
            </a:r>
            <a:endParaRPr lang="en-US" sz="2800" dirty="0"/>
          </a:p>
        </p:txBody>
      </p:sp>
      <p:sp>
        <p:nvSpPr>
          <p:cNvPr id="16" name="Text 13"/>
          <p:cNvSpPr txBox="1"/>
          <p:nvPr/>
        </p:nvSpPr>
        <p:spPr>
          <a:xfrm>
            <a:off x="6400800" y="4091940"/>
            <a:ext cx="2057400" cy="483718"/>
          </a:xfrm>
          <a:prstGeom prst="rect">
            <a:avLst/>
          </a:prstGeom>
          <a:noFill/>
          <a:ln/>
        </p:spPr>
        <p:txBody>
          <a:bodyPr wrap="square" lIns="0" tIns="0" rIns="0" bIns="0" rtlCol="0" anchor="t"/>
          <a:lstStyle/>
          <a:p>
            <a:pPr marL="0" indent="0">
              <a:buNone/>
            </a:pPr>
            <a:r>
              <a:rPr lang="en-US" sz="1400" dirty="0">
                <a:solidFill>
                  <a:schemeClr val="tx1"/>
                </a:solidFill>
              </a:rPr>
              <a:t>in Auditing, the smallest team</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Employees by race</a:t>
            </a:r>
            <a:endParaRPr lang="en-US" sz="3200" dirty="0"/>
          </a:p>
        </p:txBody>
      </p:sp>
      <p:sp>
        <p:nvSpPr>
          <p:cNvPr id="3" name="Frame Employees by race"/>
          <p:cNvSpPr/>
          <p:nvPr/>
        </p:nvSpPr>
        <p:spPr>
          <a:xfrm>
            <a:off x="548640" y="1188720"/>
            <a:ext cx="5394960" cy="3429000"/>
          </a:xfrm>
          <a:prstGeom prst="roundRect">
            <a:avLst>
              <a:gd name="adj" fmla="val 2133"/>
            </a:avLst>
          </a:prstGeom>
          <a:solidFill>
            <a:schemeClr val="bg1"/>
          </a:solidFill>
          <a:ln w="9525">
            <a:solidFill>
              <a:srgbClr val="DDE5F0"/>
            </a:solidFill>
            <a:prstDash val="solid"/>
          </a:ln>
          <a:effectLst>
            <a:outerShdw algn="bl" rotWithShape="0">
              <a:srgbClr val="000000">
                <a:alpha val="0"/>
              </a:srgbClr>
            </a:outerShdw>
          </a:effectLst>
        </p:spPr>
      </p:sp>
      <p:pic>
        <p:nvPicPr>
          <p:cNvPr id="4" name="Image 0" descr="Employees by race"/>
          <p:cNvPicPr>
            <a:picLocks noChangeAspect="1"/>
          </p:cNvPicPr>
          <p:nvPr/>
        </p:nvPicPr>
        <p:blipFill>
          <a:blip r:embed="rId3"/>
          <a:stretch>
            <a:fillRect/>
          </a:stretch>
        </p:blipFill>
        <p:spPr>
          <a:xfrm>
            <a:off x="676656" y="1391771"/>
            <a:ext cx="5138928" cy="3022899"/>
          </a:xfrm>
          <a:prstGeom prst="rect">
            <a:avLst/>
          </a:prstGeom>
        </p:spPr>
      </p:pic>
      <p:sp>
        <p:nvSpPr>
          <p:cNvPr id="5" name="Stat White, the largest group (6,328)"/>
          <p:cNvSpPr/>
          <p:nvPr/>
        </p:nvSpPr>
        <p:spPr>
          <a:xfrm>
            <a:off x="6172200" y="118872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6" name="Accent White, the largest group (6,328)"/>
          <p:cNvSpPr/>
          <p:nvPr/>
        </p:nvSpPr>
        <p:spPr>
          <a:xfrm>
            <a:off x="6172200" y="1298448"/>
            <a:ext cx="73152" cy="832104"/>
          </a:xfrm>
          <a:prstGeom prst="rect">
            <a:avLst/>
          </a:prstGeom>
          <a:solidFill>
            <a:schemeClr val="accent1"/>
          </a:solidFill>
          <a:ln w="12700">
            <a:solidFill>
              <a:schemeClr val="accent1"/>
            </a:solidFill>
            <a:prstDash val="solid"/>
          </a:ln>
        </p:spPr>
      </p:sp>
      <p:sp>
        <p:nvSpPr>
          <p:cNvPr id="7" name="Text 4"/>
          <p:cNvSpPr txBox="1"/>
          <p:nvPr/>
        </p:nvSpPr>
        <p:spPr>
          <a:xfrm>
            <a:off x="6400800" y="126187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28.5%</a:t>
            </a:r>
            <a:endParaRPr lang="en-US" sz="2800" dirty="0"/>
          </a:p>
        </p:txBody>
      </p:sp>
      <p:sp>
        <p:nvSpPr>
          <p:cNvPr id="8" name="Text 5"/>
          <p:cNvSpPr txBox="1"/>
          <p:nvPr/>
        </p:nvSpPr>
        <p:spPr>
          <a:xfrm>
            <a:off x="6400800" y="1714500"/>
            <a:ext cx="2057400" cy="483718"/>
          </a:xfrm>
          <a:prstGeom prst="rect">
            <a:avLst/>
          </a:prstGeom>
          <a:noFill/>
          <a:ln/>
        </p:spPr>
        <p:txBody>
          <a:bodyPr wrap="square" lIns="0" tIns="0" rIns="0" bIns="0" rtlCol="0" anchor="t"/>
          <a:lstStyle/>
          <a:p>
            <a:pPr marL="0" indent="0">
              <a:buNone/>
            </a:pPr>
            <a:r>
              <a:rPr lang="en-US" sz="1400" dirty="0">
                <a:solidFill>
                  <a:schemeClr val="tx1"/>
                </a:solidFill>
              </a:rPr>
              <a:t>White, the largest group (6,328)</a:t>
            </a:r>
            <a:endParaRPr lang="en-US" sz="1400" dirty="0"/>
          </a:p>
        </p:txBody>
      </p:sp>
      <p:sp>
        <p:nvSpPr>
          <p:cNvPr id="9" name="Stat each: Two or More Races, Black, Asian"/>
          <p:cNvSpPr/>
          <p:nvPr/>
        </p:nvSpPr>
        <p:spPr>
          <a:xfrm>
            <a:off x="6172200" y="237744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0" name="Accent each: Two or More Races, Black, Asian"/>
          <p:cNvSpPr/>
          <p:nvPr/>
        </p:nvSpPr>
        <p:spPr>
          <a:xfrm>
            <a:off x="6172200" y="2487168"/>
            <a:ext cx="73152" cy="832104"/>
          </a:xfrm>
          <a:prstGeom prst="rect">
            <a:avLst/>
          </a:prstGeom>
          <a:solidFill>
            <a:schemeClr val="accent2"/>
          </a:solidFill>
          <a:ln w="12700">
            <a:solidFill>
              <a:schemeClr val="accent2"/>
            </a:solidFill>
            <a:prstDash val="solid"/>
          </a:ln>
        </p:spPr>
      </p:sp>
      <p:sp>
        <p:nvSpPr>
          <p:cNvPr id="11" name="Text 8"/>
          <p:cNvSpPr txBox="1"/>
          <p:nvPr/>
        </p:nvSpPr>
        <p:spPr>
          <a:xfrm>
            <a:off x="6400800" y="245059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~16%</a:t>
            </a:r>
            <a:endParaRPr lang="en-US" sz="2800" dirty="0"/>
          </a:p>
        </p:txBody>
      </p:sp>
      <p:sp>
        <p:nvSpPr>
          <p:cNvPr id="12" name="Text 9"/>
          <p:cNvSpPr txBox="1"/>
          <p:nvPr/>
        </p:nvSpPr>
        <p:spPr>
          <a:xfrm>
            <a:off x="6400800" y="2903220"/>
            <a:ext cx="2057400" cy="483718"/>
          </a:xfrm>
          <a:prstGeom prst="rect">
            <a:avLst/>
          </a:prstGeom>
          <a:noFill/>
          <a:ln/>
        </p:spPr>
        <p:txBody>
          <a:bodyPr wrap="square" lIns="0" tIns="0" rIns="0" bIns="0" rtlCol="0" anchor="t"/>
          <a:lstStyle/>
          <a:p>
            <a:pPr marL="0" indent="0">
              <a:buNone/>
            </a:pPr>
            <a:r>
              <a:rPr lang="en-US" sz="1400" dirty="0">
                <a:solidFill>
                  <a:schemeClr val="tx1"/>
                </a:solidFill>
              </a:rPr>
              <a:t>each: Two or More Races, Black, Asian</a:t>
            </a:r>
            <a:endParaRPr lang="en-US" sz="1400" dirty="0"/>
          </a:p>
        </p:txBody>
      </p:sp>
      <p:sp>
        <p:nvSpPr>
          <p:cNvPr id="13" name="Stat Native Hawaiian or Other Pacific Islander, smallest"/>
          <p:cNvSpPr/>
          <p:nvPr/>
        </p:nvSpPr>
        <p:spPr>
          <a:xfrm>
            <a:off x="6172200" y="3566160"/>
            <a:ext cx="2423160" cy="1051560"/>
          </a:xfrm>
          <a:prstGeom prst="roundRect">
            <a:avLst>
              <a:gd name="adj" fmla="val 6957"/>
            </a:avLst>
          </a:prstGeom>
          <a:solidFill>
            <a:schemeClr val="bg1"/>
          </a:solidFill>
          <a:ln w="9525">
            <a:solidFill>
              <a:srgbClr val="DDE5F0"/>
            </a:solidFill>
            <a:prstDash val="solid"/>
          </a:ln>
          <a:effectLst>
            <a:outerShdw algn="bl" rotWithShape="0">
              <a:srgbClr val="000000">
                <a:alpha val="0"/>
              </a:srgbClr>
            </a:outerShdw>
          </a:effectLst>
        </p:spPr>
      </p:sp>
      <p:sp>
        <p:nvSpPr>
          <p:cNvPr id="14" name="Accent Native Hawaiian or Other Pacific Islander, smallest"/>
          <p:cNvSpPr/>
          <p:nvPr/>
        </p:nvSpPr>
        <p:spPr>
          <a:xfrm>
            <a:off x="6172200" y="3675888"/>
            <a:ext cx="73152" cy="832104"/>
          </a:xfrm>
          <a:prstGeom prst="rect">
            <a:avLst/>
          </a:prstGeom>
          <a:solidFill>
            <a:schemeClr val="accent5"/>
          </a:solidFill>
          <a:ln w="12700">
            <a:solidFill>
              <a:schemeClr val="accent5"/>
            </a:solidFill>
            <a:prstDash val="solid"/>
          </a:ln>
        </p:spPr>
      </p:sp>
      <p:sp>
        <p:nvSpPr>
          <p:cNvPr id="15" name="Text 12"/>
          <p:cNvSpPr txBox="1"/>
          <p:nvPr/>
        </p:nvSpPr>
        <p:spPr>
          <a:xfrm>
            <a:off x="6400800" y="3639312"/>
            <a:ext cx="2057400" cy="420624"/>
          </a:xfrm>
          <a:prstGeom prst="rect">
            <a:avLst/>
          </a:prstGeom>
          <a:noFill/>
          <a:ln/>
        </p:spPr>
        <p:txBody>
          <a:bodyPr wrap="square" lIns="0" tIns="0" rIns="0" bIns="0" rtlCol="0" anchor="ctr"/>
          <a:lstStyle/>
          <a:p>
            <a:pPr marL="0" indent="0">
              <a:buNone/>
            </a:pPr>
            <a:r>
              <a:rPr lang="en-US" sz="2800" b="1" dirty="0">
                <a:solidFill>
                  <a:schemeClr val="tx2"/>
                </a:solidFill>
              </a:rPr>
              <a:t>1,229</a:t>
            </a:r>
            <a:endParaRPr lang="en-US" sz="2800" dirty="0"/>
          </a:p>
        </p:txBody>
      </p:sp>
      <p:sp>
        <p:nvSpPr>
          <p:cNvPr id="16" name="Text 13"/>
          <p:cNvSpPr txBox="1"/>
          <p:nvPr/>
        </p:nvSpPr>
        <p:spPr>
          <a:xfrm>
            <a:off x="6400800" y="4091940"/>
            <a:ext cx="2057400" cy="483718"/>
          </a:xfrm>
          <a:prstGeom prst="rect">
            <a:avLst/>
          </a:prstGeom>
          <a:noFill/>
          <a:ln/>
        </p:spPr>
        <p:txBody>
          <a:bodyPr wrap="square" lIns="0" tIns="0" rIns="0" bIns="0" rtlCol="0" anchor="t"/>
          <a:lstStyle/>
          <a:p>
            <a:pPr marL="0" indent="0">
              <a:buNone/>
            </a:pPr>
            <a:r>
              <a:rPr lang="en-US" sz="1400" dirty="0">
                <a:solidFill>
                  <a:schemeClr val="tx1"/>
                </a:solidFill>
              </a:rPr>
              <a:t>Native Hawaiian or Other Pacific Islander, smallest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Insights: the workforce</a:t>
            </a:r>
            <a:endParaRPr lang="en-US" sz="3200" dirty="0"/>
          </a:p>
        </p:txBody>
      </p:sp>
      <p:sp>
        <p:nvSpPr>
          <p:cNvPr id="3" name="Insight Location"/>
          <p:cNvSpPr/>
          <p:nvPr/>
        </p:nvSpPr>
        <p:spPr>
          <a:xfrm>
            <a:off x="548640" y="118872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4" name="Insight accent 0"/>
          <p:cNvSpPr/>
          <p:nvPr/>
        </p:nvSpPr>
        <p:spPr>
          <a:xfrm>
            <a:off x="548640" y="1298448"/>
            <a:ext cx="73152" cy="1380744"/>
          </a:xfrm>
          <a:prstGeom prst="rect">
            <a:avLst/>
          </a:prstGeom>
          <a:solidFill>
            <a:schemeClr val="accent1"/>
          </a:solidFill>
          <a:ln w="12700">
            <a:solidFill>
              <a:schemeClr val="accent1"/>
            </a:solidFill>
            <a:prstDash val="solid"/>
          </a:ln>
        </p:spPr>
      </p:sp>
      <p:sp>
        <p:nvSpPr>
          <p:cNvPr id="5" name="Text 3"/>
          <p:cNvSpPr txBox="1"/>
          <p:nvPr/>
        </p:nvSpPr>
        <p:spPr>
          <a:xfrm>
            <a:off x="777240" y="1325880"/>
            <a:ext cx="2194560" cy="365760"/>
          </a:xfrm>
          <a:prstGeom prst="rect">
            <a:avLst/>
          </a:prstGeom>
          <a:noFill/>
          <a:ln/>
        </p:spPr>
        <p:txBody>
          <a:bodyPr wrap="square" lIns="0" tIns="0" rIns="0" bIns="0" rtlCol="0" anchor="t"/>
          <a:lstStyle/>
          <a:p>
            <a:pPr marL="0" indent="0">
              <a:buNone/>
            </a:pPr>
            <a:r>
              <a:rPr lang="en-US" sz="1600" b="1" dirty="0">
                <a:solidFill>
                  <a:schemeClr val="tx2"/>
                </a:solidFill>
              </a:rPr>
              <a:t>Location</a:t>
            </a:r>
            <a:endParaRPr lang="en-US" sz="1600" dirty="0"/>
          </a:p>
        </p:txBody>
      </p:sp>
      <p:sp>
        <p:nvSpPr>
          <p:cNvPr id="6" name="Text 4"/>
          <p:cNvSpPr txBox="1"/>
          <p:nvPr/>
        </p:nvSpPr>
        <p:spPr>
          <a:xfrm>
            <a:off x="777240" y="1719072"/>
            <a:ext cx="2194560" cy="1005840"/>
          </a:xfrm>
          <a:prstGeom prst="rect">
            <a:avLst/>
          </a:prstGeom>
          <a:noFill/>
          <a:ln/>
        </p:spPr>
        <p:txBody>
          <a:bodyPr wrap="square" lIns="0" tIns="0" rIns="0" bIns="0" rtlCol="0" anchor="t"/>
          <a:lstStyle/>
          <a:p>
            <a:pPr marL="0" indent="0">
              <a:buNone/>
            </a:pPr>
            <a:r>
              <a:rPr lang="en-US" sz="1400" dirty="0">
                <a:solidFill>
                  <a:schemeClr val="tx1"/>
                </a:solidFill>
              </a:rPr>
              <a:t>75.2% work at HQ and 24.8% work remotely.</a:t>
            </a:r>
            <a:endParaRPr lang="en-US" sz="1400" dirty="0"/>
          </a:p>
        </p:txBody>
      </p:sp>
      <p:sp>
        <p:nvSpPr>
          <p:cNvPr id="7" name="Insight State"/>
          <p:cNvSpPr/>
          <p:nvPr/>
        </p:nvSpPr>
        <p:spPr>
          <a:xfrm>
            <a:off x="3291840" y="118872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8" name="Insight accent 1"/>
          <p:cNvSpPr/>
          <p:nvPr/>
        </p:nvSpPr>
        <p:spPr>
          <a:xfrm>
            <a:off x="3291840" y="1298448"/>
            <a:ext cx="73152" cy="1380744"/>
          </a:xfrm>
          <a:prstGeom prst="rect">
            <a:avLst/>
          </a:prstGeom>
          <a:solidFill>
            <a:schemeClr val="accent2"/>
          </a:solidFill>
          <a:ln w="12700">
            <a:solidFill>
              <a:schemeClr val="accent2"/>
            </a:solidFill>
            <a:prstDash val="solid"/>
          </a:ln>
        </p:spPr>
      </p:sp>
      <p:sp>
        <p:nvSpPr>
          <p:cNvPr id="9" name="Text 7"/>
          <p:cNvSpPr txBox="1"/>
          <p:nvPr/>
        </p:nvSpPr>
        <p:spPr>
          <a:xfrm>
            <a:off x="3520440" y="1325880"/>
            <a:ext cx="2194560" cy="365760"/>
          </a:xfrm>
          <a:prstGeom prst="rect">
            <a:avLst/>
          </a:prstGeom>
          <a:noFill/>
          <a:ln/>
        </p:spPr>
        <p:txBody>
          <a:bodyPr wrap="square" lIns="0" tIns="0" rIns="0" bIns="0" rtlCol="0" anchor="t"/>
          <a:lstStyle/>
          <a:p>
            <a:pPr marL="0" indent="0">
              <a:buNone/>
            </a:pPr>
            <a:r>
              <a:rPr lang="en-US" sz="1600" b="1" dirty="0">
                <a:solidFill>
                  <a:schemeClr val="tx2"/>
                </a:solidFill>
              </a:rPr>
              <a:t>State</a:t>
            </a:r>
            <a:endParaRPr lang="en-US" sz="1600" dirty="0"/>
          </a:p>
        </p:txBody>
      </p:sp>
      <p:sp>
        <p:nvSpPr>
          <p:cNvPr id="10" name="Text 8"/>
          <p:cNvSpPr txBox="1"/>
          <p:nvPr/>
        </p:nvSpPr>
        <p:spPr>
          <a:xfrm>
            <a:off x="3520440" y="1719072"/>
            <a:ext cx="2194560" cy="1005840"/>
          </a:xfrm>
          <a:prstGeom prst="rect">
            <a:avLst/>
          </a:prstGeom>
          <a:noFill/>
          <a:ln/>
        </p:spPr>
        <p:txBody>
          <a:bodyPr wrap="square" lIns="0" tIns="0" rIns="0" bIns="0" rtlCol="0" anchor="t"/>
          <a:lstStyle/>
          <a:p>
            <a:pPr marL="0" indent="0">
              <a:buNone/>
            </a:pPr>
            <a:r>
              <a:rPr lang="en-US" sz="1400" dirty="0">
                <a:solidFill>
                  <a:schemeClr val="tx1"/>
                </a:solidFill>
              </a:rPr>
              <a:t>Ohio has 81% of employees (18,025).</a:t>
            </a:r>
            <a:endParaRPr lang="en-US" sz="1400" dirty="0"/>
          </a:p>
        </p:txBody>
      </p:sp>
      <p:sp>
        <p:nvSpPr>
          <p:cNvPr id="11" name="Insight Department"/>
          <p:cNvSpPr/>
          <p:nvPr/>
        </p:nvSpPr>
        <p:spPr>
          <a:xfrm>
            <a:off x="6035040" y="118872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12" name="Insight accent 2"/>
          <p:cNvSpPr/>
          <p:nvPr/>
        </p:nvSpPr>
        <p:spPr>
          <a:xfrm>
            <a:off x="6035040" y="1298448"/>
            <a:ext cx="73152" cy="1380744"/>
          </a:xfrm>
          <a:prstGeom prst="rect">
            <a:avLst/>
          </a:prstGeom>
          <a:solidFill>
            <a:schemeClr val="accent5"/>
          </a:solidFill>
          <a:ln w="12700">
            <a:solidFill>
              <a:schemeClr val="accent5"/>
            </a:solidFill>
            <a:prstDash val="solid"/>
          </a:ln>
        </p:spPr>
      </p:sp>
      <p:sp>
        <p:nvSpPr>
          <p:cNvPr id="13" name="Text 11"/>
          <p:cNvSpPr txBox="1"/>
          <p:nvPr/>
        </p:nvSpPr>
        <p:spPr>
          <a:xfrm>
            <a:off x="6263640" y="1325880"/>
            <a:ext cx="2194560" cy="365760"/>
          </a:xfrm>
          <a:prstGeom prst="rect">
            <a:avLst/>
          </a:prstGeom>
          <a:noFill/>
          <a:ln/>
        </p:spPr>
        <p:txBody>
          <a:bodyPr wrap="square" lIns="0" tIns="0" rIns="0" bIns="0" rtlCol="0" anchor="t"/>
          <a:lstStyle/>
          <a:p>
            <a:pPr marL="0" indent="0">
              <a:buNone/>
            </a:pPr>
            <a:r>
              <a:rPr lang="en-US" sz="1600" b="1" dirty="0">
                <a:solidFill>
                  <a:schemeClr val="tx2"/>
                </a:solidFill>
              </a:rPr>
              <a:t>Department</a:t>
            </a:r>
            <a:endParaRPr lang="en-US" sz="1600" dirty="0"/>
          </a:p>
        </p:txBody>
      </p:sp>
      <p:sp>
        <p:nvSpPr>
          <p:cNvPr id="14" name="Text 12"/>
          <p:cNvSpPr txBox="1"/>
          <p:nvPr/>
        </p:nvSpPr>
        <p:spPr>
          <a:xfrm>
            <a:off x="6263640" y="1719072"/>
            <a:ext cx="2194560" cy="1005840"/>
          </a:xfrm>
          <a:prstGeom prst="rect">
            <a:avLst/>
          </a:prstGeom>
          <a:noFill/>
          <a:ln/>
        </p:spPr>
        <p:txBody>
          <a:bodyPr wrap="square" lIns="0" tIns="0" rIns="0" bIns="0" rtlCol="0" anchor="t"/>
          <a:lstStyle/>
          <a:p>
            <a:pPr marL="0" indent="0">
              <a:buNone/>
            </a:pPr>
            <a:r>
              <a:rPr lang="en-US" sz="1400" dirty="0">
                <a:solidFill>
                  <a:schemeClr val="tx1"/>
                </a:solidFill>
              </a:rPr>
              <a:t>Engineering is 30% of staff. Auditing has only 52 employees.</a:t>
            </a:r>
            <a:endParaRPr lang="en-US" sz="1400" dirty="0"/>
          </a:p>
        </p:txBody>
      </p:sp>
      <p:sp>
        <p:nvSpPr>
          <p:cNvPr id="15" name="Insight Gender"/>
          <p:cNvSpPr/>
          <p:nvPr/>
        </p:nvSpPr>
        <p:spPr>
          <a:xfrm>
            <a:off x="548640" y="297180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16" name="Insight accent 3"/>
          <p:cNvSpPr/>
          <p:nvPr/>
        </p:nvSpPr>
        <p:spPr>
          <a:xfrm>
            <a:off x="548640" y="3081528"/>
            <a:ext cx="73152" cy="1380744"/>
          </a:xfrm>
          <a:prstGeom prst="rect">
            <a:avLst/>
          </a:prstGeom>
          <a:solidFill>
            <a:schemeClr val="accent1"/>
          </a:solidFill>
          <a:ln w="12700">
            <a:solidFill>
              <a:schemeClr val="accent1"/>
            </a:solidFill>
            <a:prstDash val="solid"/>
          </a:ln>
        </p:spPr>
      </p:sp>
      <p:sp>
        <p:nvSpPr>
          <p:cNvPr id="17" name="Text 15"/>
          <p:cNvSpPr txBox="1"/>
          <p:nvPr/>
        </p:nvSpPr>
        <p:spPr>
          <a:xfrm>
            <a:off x="777240" y="3108960"/>
            <a:ext cx="2194560" cy="365760"/>
          </a:xfrm>
          <a:prstGeom prst="rect">
            <a:avLst/>
          </a:prstGeom>
          <a:noFill/>
          <a:ln/>
        </p:spPr>
        <p:txBody>
          <a:bodyPr wrap="square" lIns="0" tIns="0" rIns="0" bIns="0" rtlCol="0" anchor="t"/>
          <a:lstStyle/>
          <a:p>
            <a:pPr marL="0" indent="0">
              <a:buNone/>
            </a:pPr>
            <a:r>
              <a:rPr lang="en-US" sz="1600" b="1" dirty="0">
                <a:solidFill>
                  <a:schemeClr val="tx2"/>
                </a:solidFill>
              </a:rPr>
              <a:t>Gender</a:t>
            </a:r>
            <a:endParaRPr lang="en-US" sz="1600" dirty="0"/>
          </a:p>
        </p:txBody>
      </p:sp>
      <p:sp>
        <p:nvSpPr>
          <p:cNvPr id="18" name="Text 16"/>
          <p:cNvSpPr txBox="1"/>
          <p:nvPr/>
        </p:nvSpPr>
        <p:spPr>
          <a:xfrm>
            <a:off x="777240" y="3502152"/>
            <a:ext cx="2194560" cy="1005840"/>
          </a:xfrm>
          <a:prstGeom prst="rect">
            <a:avLst/>
          </a:prstGeom>
          <a:noFill/>
          <a:ln/>
        </p:spPr>
        <p:txBody>
          <a:bodyPr wrap="square" lIns="0" tIns="0" rIns="0" bIns="0" rtlCol="0" anchor="t"/>
          <a:lstStyle/>
          <a:p>
            <a:pPr marL="0" indent="0">
              <a:buNone/>
            </a:pPr>
            <a:r>
              <a:rPr lang="en-US" sz="1400" dirty="0">
                <a:solidFill>
                  <a:schemeClr val="tx1"/>
                </a:solidFill>
              </a:rPr>
              <a:t>Male 50.8%, Female 46.5%, Non-Conforming 2.7%.</a:t>
            </a:r>
            <a:endParaRPr lang="en-US" sz="1400" dirty="0"/>
          </a:p>
        </p:txBody>
      </p:sp>
      <p:sp>
        <p:nvSpPr>
          <p:cNvPr id="19" name="Insight Race"/>
          <p:cNvSpPr/>
          <p:nvPr/>
        </p:nvSpPr>
        <p:spPr>
          <a:xfrm>
            <a:off x="3291840" y="297180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20" name="Insight accent 4"/>
          <p:cNvSpPr/>
          <p:nvPr/>
        </p:nvSpPr>
        <p:spPr>
          <a:xfrm>
            <a:off x="3291840" y="3081528"/>
            <a:ext cx="73152" cy="1380744"/>
          </a:xfrm>
          <a:prstGeom prst="rect">
            <a:avLst/>
          </a:prstGeom>
          <a:solidFill>
            <a:schemeClr val="accent2"/>
          </a:solidFill>
          <a:ln w="12700">
            <a:solidFill>
              <a:schemeClr val="accent2"/>
            </a:solidFill>
            <a:prstDash val="solid"/>
          </a:ln>
        </p:spPr>
      </p:sp>
      <p:sp>
        <p:nvSpPr>
          <p:cNvPr id="21" name="Text 19"/>
          <p:cNvSpPr txBox="1"/>
          <p:nvPr/>
        </p:nvSpPr>
        <p:spPr>
          <a:xfrm>
            <a:off x="3520440" y="3108960"/>
            <a:ext cx="2194560" cy="365760"/>
          </a:xfrm>
          <a:prstGeom prst="rect">
            <a:avLst/>
          </a:prstGeom>
          <a:noFill/>
          <a:ln/>
        </p:spPr>
        <p:txBody>
          <a:bodyPr wrap="square" lIns="0" tIns="0" rIns="0" bIns="0" rtlCol="0" anchor="t"/>
          <a:lstStyle/>
          <a:p>
            <a:pPr marL="0" indent="0">
              <a:buNone/>
            </a:pPr>
            <a:r>
              <a:rPr lang="en-US" sz="1600" b="1" dirty="0">
                <a:solidFill>
                  <a:schemeClr val="tx2"/>
                </a:solidFill>
              </a:rPr>
              <a:t>Race</a:t>
            </a:r>
            <a:endParaRPr lang="en-US" sz="1600" dirty="0"/>
          </a:p>
        </p:txBody>
      </p:sp>
      <p:sp>
        <p:nvSpPr>
          <p:cNvPr id="22" name="Text 20"/>
          <p:cNvSpPr txBox="1"/>
          <p:nvPr/>
        </p:nvSpPr>
        <p:spPr>
          <a:xfrm>
            <a:off x="3520440" y="3502152"/>
            <a:ext cx="2194560" cy="1005840"/>
          </a:xfrm>
          <a:prstGeom prst="rect">
            <a:avLst/>
          </a:prstGeom>
          <a:noFill/>
          <a:ln/>
        </p:spPr>
        <p:txBody>
          <a:bodyPr wrap="square" lIns="0" tIns="0" rIns="0" bIns="0" rtlCol="0" anchor="t"/>
          <a:lstStyle/>
          <a:p>
            <a:pPr marL="0" indent="0">
              <a:buNone/>
            </a:pPr>
            <a:r>
              <a:rPr lang="en-US" sz="1400" dirty="0">
                <a:solidFill>
                  <a:schemeClr val="tx1"/>
                </a:solidFill>
              </a:rPr>
              <a:t>White is the largest group (28.5%). No group is above 30%.</a:t>
            </a:r>
            <a:endParaRPr lang="en-US" sz="1400" dirty="0"/>
          </a:p>
        </p:txBody>
      </p:sp>
      <p:sp>
        <p:nvSpPr>
          <p:cNvPr id="23" name="Insight Age"/>
          <p:cNvSpPr/>
          <p:nvPr/>
        </p:nvSpPr>
        <p:spPr>
          <a:xfrm>
            <a:off x="6035040" y="297180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24" name="Insight accent 5"/>
          <p:cNvSpPr/>
          <p:nvPr/>
        </p:nvSpPr>
        <p:spPr>
          <a:xfrm>
            <a:off x="6035040" y="3081528"/>
            <a:ext cx="73152" cy="1380744"/>
          </a:xfrm>
          <a:prstGeom prst="rect">
            <a:avLst/>
          </a:prstGeom>
          <a:solidFill>
            <a:schemeClr val="accent5"/>
          </a:solidFill>
          <a:ln w="12700">
            <a:solidFill>
              <a:schemeClr val="accent5"/>
            </a:solidFill>
            <a:prstDash val="solid"/>
          </a:ln>
        </p:spPr>
      </p:sp>
      <p:sp>
        <p:nvSpPr>
          <p:cNvPr id="25" name="Text 23"/>
          <p:cNvSpPr txBox="1"/>
          <p:nvPr/>
        </p:nvSpPr>
        <p:spPr>
          <a:xfrm>
            <a:off x="6263640" y="3108960"/>
            <a:ext cx="2194560" cy="365760"/>
          </a:xfrm>
          <a:prstGeom prst="rect">
            <a:avLst/>
          </a:prstGeom>
          <a:noFill/>
          <a:ln/>
        </p:spPr>
        <p:txBody>
          <a:bodyPr wrap="square" lIns="0" tIns="0" rIns="0" bIns="0" rtlCol="0" anchor="t"/>
          <a:lstStyle/>
          <a:p>
            <a:pPr marL="0" indent="0">
              <a:buNone/>
            </a:pPr>
            <a:r>
              <a:rPr lang="en-US" sz="1600" b="1" dirty="0">
                <a:solidFill>
                  <a:schemeClr val="tx2"/>
                </a:solidFill>
              </a:rPr>
              <a:t>Age</a:t>
            </a:r>
            <a:endParaRPr lang="en-US" sz="1600" dirty="0"/>
          </a:p>
        </p:txBody>
      </p:sp>
      <p:sp>
        <p:nvSpPr>
          <p:cNvPr id="26" name="Text 24"/>
          <p:cNvSpPr txBox="1"/>
          <p:nvPr/>
        </p:nvSpPr>
        <p:spPr>
          <a:xfrm>
            <a:off x="6263640" y="3502152"/>
            <a:ext cx="2194560" cy="1005840"/>
          </a:xfrm>
          <a:prstGeom prst="rect">
            <a:avLst/>
          </a:prstGeom>
          <a:noFill/>
          <a:ln/>
        </p:spPr>
        <p:txBody>
          <a:bodyPr wrap="square" lIns="0" tIns="0" rIns="0" bIns="0" rtlCol="0" anchor="t"/>
          <a:lstStyle/>
          <a:p>
            <a:pPr marL="0" indent="0">
              <a:buNone/>
            </a:pPr>
            <a:r>
              <a:rPr lang="en-US" sz="1400" dirty="0">
                <a:solidFill>
                  <a:schemeClr val="tx1"/>
                </a:solidFill>
              </a:rPr>
              <a:t>Average age is 38.4. About 54% are 25 to 44; only 6% are 55 or older.</a:t>
            </a:r>
            <a:endParaRPr lang="en-US" sz="1400" dirty="0"/>
          </a:p>
        </p:txBody>
      </p:sp>
      <p:sp>
        <p:nvSpPr>
          <p:cNvPr id="2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tx2"/>
                </a:solidFill>
              </a:rPr>
              <a:t>Insights: hiring and attrition</a:t>
            </a:r>
            <a:endParaRPr lang="en-US" sz="3200" dirty="0"/>
          </a:p>
        </p:txBody>
      </p:sp>
      <p:sp>
        <p:nvSpPr>
          <p:cNvPr id="3" name="Insight Hiring"/>
          <p:cNvSpPr/>
          <p:nvPr/>
        </p:nvSpPr>
        <p:spPr>
          <a:xfrm>
            <a:off x="548640" y="118872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4" name="Insight accent 0"/>
          <p:cNvSpPr/>
          <p:nvPr/>
        </p:nvSpPr>
        <p:spPr>
          <a:xfrm>
            <a:off x="548640" y="1298448"/>
            <a:ext cx="73152" cy="1380744"/>
          </a:xfrm>
          <a:prstGeom prst="rect">
            <a:avLst/>
          </a:prstGeom>
          <a:solidFill>
            <a:schemeClr val="accent1"/>
          </a:solidFill>
          <a:ln w="12700">
            <a:solidFill>
              <a:schemeClr val="accent1"/>
            </a:solidFill>
            <a:prstDash val="solid"/>
          </a:ln>
        </p:spPr>
      </p:sp>
      <p:sp>
        <p:nvSpPr>
          <p:cNvPr id="5" name="Text 3"/>
          <p:cNvSpPr txBox="1"/>
          <p:nvPr/>
        </p:nvSpPr>
        <p:spPr>
          <a:xfrm>
            <a:off x="777240" y="1325880"/>
            <a:ext cx="2194560" cy="365760"/>
          </a:xfrm>
          <a:prstGeom prst="rect">
            <a:avLst/>
          </a:prstGeom>
          <a:noFill/>
          <a:ln/>
        </p:spPr>
        <p:txBody>
          <a:bodyPr wrap="square" lIns="0" tIns="0" rIns="0" bIns="0" rtlCol="0" anchor="t"/>
          <a:lstStyle/>
          <a:p>
            <a:pPr marL="0" indent="0">
              <a:buNone/>
            </a:pPr>
            <a:r>
              <a:rPr lang="en-US" sz="1600" b="1" dirty="0">
                <a:solidFill>
                  <a:schemeClr val="tx2"/>
                </a:solidFill>
              </a:rPr>
              <a:t>Hiring</a:t>
            </a:r>
            <a:endParaRPr lang="en-US" sz="1600" dirty="0"/>
          </a:p>
        </p:txBody>
      </p:sp>
      <p:sp>
        <p:nvSpPr>
          <p:cNvPr id="6" name="Text 4"/>
          <p:cNvSpPr txBox="1"/>
          <p:nvPr/>
        </p:nvSpPr>
        <p:spPr>
          <a:xfrm>
            <a:off x="777240" y="1719072"/>
            <a:ext cx="2194560" cy="1005840"/>
          </a:xfrm>
          <a:prstGeom prst="rect">
            <a:avLst/>
          </a:prstGeom>
          <a:noFill/>
          <a:ln/>
        </p:spPr>
        <p:txBody>
          <a:bodyPr wrap="square" lIns="0" tIns="0" rIns="0" bIns="0" rtlCol="0" anchor="t"/>
          <a:lstStyle/>
          <a:p>
            <a:pPr marL="0" indent="0">
              <a:buNone/>
            </a:pPr>
            <a:r>
              <a:rPr lang="en-US" sz="1400" dirty="0">
                <a:solidFill>
                  <a:schemeClr val="tx1"/>
                </a:solidFill>
              </a:rPr>
              <a:t>About 1,000–1,150 hires a year after 2000.</a:t>
            </a:r>
            <a:endParaRPr lang="en-US" sz="1400" dirty="0"/>
          </a:p>
        </p:txBody>
      </p:sp>
      <p:sp>
        <p:nvSpPr>
          <p:cNvPr id="7" name="Insight Peak and low"/>
          <p:cNvSpPr/>
          <p:nvPr/>
        </p:nvSpPr>
        <p:spPr>
          <a:xfrm>
            <a:off x="3291840" y="118872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8" name="Insight accent 1"/>
          <p:cNvSpPr/>
          <p:nvPr/>
        </p:nvSpPr>
        <p:spPr>
          <a:xfrm>
            <a:off x="3291840" y="1298448"/>
            <a:ext cx="73152" cy="1380744"/>
          </a:xfrm>
          <a:prstGeom prst="rect">
            <a:avLst/>
          </a:prstGeom>
          <a:solidFill>
            <a:schemeClr val="accent2"/>
          </a:solidFill>
          <a:ln w="12700">
            <a:solidFill>
              <a:schemeClr val="accent2"/>
            </a:solidFill>
            <a:prstDash val="solid"/>
          </a:ln>
        </p:spPr>
      </p:sp>
      <p:sp>
        <p:nvSpPr>
          <p:cNvPr id="9" name="Text 7"/>
          <p:cNvSpPr txBox="1"/>
          <p:nvPr/>
        </p:nvSpPr>
        <p:spPr>
          <a:xfrm>
            <a:off x="3520440" y="1325880"/>
            <a:ext cx="2194560" cy="365760"/>
          </a:xfrm>
          <a:prstGeom prst="rect">
            <a:avLst/>
          </a:prstGeom>
          <a:noFill/>
          <a:ln/>
        </p:spPr>
        <p:txBody>
          <a:bodyPr wrap="square" lIns="0" tIns="0" rIns="0" bIns="0" rtlCol="0" anchor="t"/>
          <a:lstStyle/>
          <a:p>
            <a:pPr marL="0" indent="0">
              <a:buNone/>
            </a:pPr>
            <a:r>
              <a:rPr lang="en-US" sz="1600" b="1" dirty="0">
                <a:solidFill>
                  <a:schemeClr val="tx2"/>
                </a:solidFill>
              </a:rPr>
              <a:t>Peak and low</a:t>
            </a:r>
            <a:endParaRPr lang="en-US" sz="1600" dirty="0"/>
          </a:p>
        </p:txBody>
      </p:sp>
      <p:sp>
        <p:nvSpPr>
          <p:cNvPr id="10" name="Text 8"/>
          <p:cNvSpPr txBox="1"/>
          <p:nvPr/>
        </p:nvSpPr>
        <p:spPr>
          <a:xfrm>
            <a:off x="3520440" y="1719072"/>
            <a:ext cx="2194560" cy="1005840"/>
          </a:xfrm>
          <a:prstGeom prst="rect">
            <a:avLst/>
          </a:prstGeom>
          <a:noFill/>
          <a:ln/>
        </p:spPr>
        <p:txBody>
          <a:bodyPr wrap="square" lIns="0" tIns="0" rIns="0" bIns="0" rtlCol="0" anchor="t"/>
          <a:lstStyle/>
          <a:p>
            <a:pPr marL="0" indent="0">
              <a:buNone/>
            </a:pPr>
            <a:r>
              <a:rPr lang="en-US" sz="1400" dirty="0">
                <a:solidFill>
                  <a:schemeClr val="tx1"/>
                </a:solidFill>
              </a:rPr>
              <a:t>Peak 1,147 in 2018. Lowest full year 1,012 in 2020.</a:t>
            </a:r>
            <a:endParaRPr lang="en-US" sz="1400" dirty="0"/>
          </a:p>
        </p:txBody>
      </p:sp>
      <p:sp>
        <p:nvSpPr>
          <p:cNvPr id="11" name="Insight Attrition"/>
          <p:cNvSpPr/>
          <p:nvPr/>
        </p:nvSpPr>
        <p:spPr>
          <a:xfrm>
            <a:off x="6035040" y="118872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12" name="Insight accent 2"/>
          <p:cNvSpPr/>
          <p:nvPr/>
        </p:nvSpPr>
        <p:spPr>
          <a:xfrm>
            <a:off x="6035040" y="1298448"/>
            <a:ext cx="73152" cy="1380744"/>
          </a:xfrm>
          <a:prstGeom prst="rect">
            <a:avLst/>
          </a:prstGeom>
          <a:solidFill>
            <a:schemeClr val="accent5"/>
          </a:solidFill>
          <a:ln w="12700">
            <a:solidFill>
              <a:schemeClr val="accent5"/>
            </a:solidFill>
            <a:prstDash val="solid"/>
          </a:ln>
        </p:spPr>
      </p:sp>
      <p:sp>
        <p:nvSpPr>
          <p:cNvPr id="13" name="Text 11"/>
          <p:cNvSpPr txBox="1"/>
          <p:nvPr/>
        </p:nvSpPr>
        <p:spPr>
          <a:xfrm>
            <a:off x="6263640" y="1325880"/>
            <a:ext cx="2194560" cy="365760"/>
          </a:xfrm>
          <a:prstGeom prst="rect">
            <a:avLst/>
          </a:prstGeom>
          <a:noFill/>
          <a:ln/>
        </p:spPr>
        <p:txBody>
          <a:bodyPr wrap="square" lIns="0" tIns="0" rIns="0" bIns="0" rtlCol="0" anchor="t"/>
          <a:lstStyle/>
          <a:p>
            <a:pPr marL="0" indent="0">
              <a:buNone/>
            </a:pPr>
            <a:r>
              <a:rPr lang="en-US" sz="1600" b="1" dirty="0">
                <a:solidFill>
                  <a:schemeClr val="tx2"/>
                </a:solidFill>
              </a:rPr>
              <a:t>Attrition</a:t>
            </a:r>
            <a:endParaRPr lang="en-US" sz="1600" dirty="0"/>
          </a:p>
        </p:txBody>
      </p:sp>
      <p:sp>
        <p:nvSpPr>
          <p:cNvPr id="14" name="Text 12"/>
          <p:cNvSpPr txBox="1"/>
          <p:nvPr/>
        </p:nvSpPr>
        <p:spPr>
          <a:xfrm>
            <a:off x="6263640" y="1719072"/>
            <a:ext cx="2194560" cy="1005840"/>
          </a:xfrm>
          <a:prstGeom prst="rect">
            <a:avLst/>
          </a:prstGeom>
          <a:noFill/>
          <a:ln/>
        </p:spPr>
        <p:txBody>
          <a:bodyPr wrap="square" lIns="0" tIns="0" rIns="0" bIns="0" rtlCol="0" anchor="t"/>
          <a:lstStyle/>
          <a:p>
            <a:pPr marL="0" indent="0">
              <a:buNone/>
            </a:pPr>
            <a:r>
              <a:rPr lang="en-US" sz="1400" dirty="0">
                <a:solidFill>
                  <a:schemeClr val="tx1"/>
                </a:solidFill>
              </a:rPr>
              <a:t>17.7% of employees have left (3,929).</a:t>
            </a:r>
            <a:endParaRPr lang="en-US" sz="1400" dirty="0"/>
          </a:p>
        </p:txBody>
      </p:sp>
      <p:sp>
        <p:nvSpPr>
          <p:cNvPr id="15" name="Insight By department"/>
          <p:cNvSpPr/>
          <p:nvPr/>
        </p:nvSpPr>
        <p:spPr>
          <a:xfrm>
            <a:off x="548640" y="297180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16" name="Insight accent 3"/>
          <p:cNvSpPr/>
          <p:nvPr/>
        </p:nvSpPr>
        <p:spPr>
          <a:xfrm>
            <a:off x="548640" y="3081528"/>
            <a:ext cx="73152" cy="1380744"/>
          </a:xfrm>
          <a:prstGeom prst="rect">
            <a:avLst/>
          </a:prstGeom>
          <a:solidFill>
            <a:schemeClr val="accent1"/>
          </a:solidFill>
          <a:ln w="12700">
            <a:solidFill>
              <a:schemeClr val="accent1"/>
            </a:solidFill>
            <a:prstDash val="solid"/>
          </a:ln>
        </p:spPr>
      </p:sp>
      <p:sp>
        <p:nvSpPr>
          <p:cNvPr id="17" name="Text 15"/>
          <p:cNvSpPr txBox="1"/>
          <p:nvPr/>
        </p:nvSpPr>
        <p:spPr>
          <a:xfrm>
            <a:off x="777240" y="3108960"/>
            <a:ext cx="2194560" cy="365760"/>
          </a:xfrm>
          <a:prstGeom prst="rect">
            <a:avLst/>
          </a:prstGeom>
          <a:noFill/>
          <a:ln/>
        </p:spPr>
        <p:txBody>
          <a:bodyPr wrap="square" lIns="0" tIns="0" rIns="0" bIns="0" rtlCol="0" anchor="t"/>
          <a:lstStyle/>
          <a:p>
            <a:pPr marL="0" indent="0">
              <a:buNone/>
            </a:pPr>
            <a:r>
              <a:rPr lang="en-US" sz="1600" b="1" dirty="0">
                <a:solidFill>
                  <a:schemeClr val="tx2"/>
                </a:solidFill>
              </a:rPr>
              <a:t>By department</a:t>
            </a:r>
            <a:endParaRPr lang="en-US" sz="1600" dirty="0"/>
          </a:p>
        </p:txBody>
      </p:sp>
      <p:sp>
        <p:nvSpPr>
          <p:cNvPr id="18" name="Text 16"/>
          <p:cNvSpPr txBox="1"/>
          <p:nvPr/>
        </p:nvSpPr>
        <p:spPr>
          <a:xfrm>
            <a:off x="777240" y="3502152"/>
            <a:ext cx="2194560" cy="1005840"/>
          </a:xfrm>
          <a:prstGeom prst="rect">
            <a:avLst/>
          </a:prstGeom>
          <a:noFill/>
          <a:ln/>
        </p:spPr>
        <p:txBody>
          <a:bodyPr wrap="square" lIns="0" tIns="0" rIns="0" bIns="0" rtlCol="0" anchor="t"/>
          <a:lstStyle/>
          <a:p>
            <a:pPr marL="0" indent="0">
              <a:buNone/>
            </a:pPr>
            <a:r>
              <a:rPr lang="en-US" sz="1400" dirty="0">
                <a:solidFill>
                  <a:schemeClr val="tx1"/>
                </a:solidFill>
              </a:rPr>
              <a:t>Highest in Auditing (23.1%), Legal (20.3%) and R&amp;D (19.6%). Lowest in Marketing (14.6%).</a:t>
            </a:r>
            <a:endParaRPr lang="en-US" sz="1400" dirty="0"/>
          </a:p>
        </p:txBody>
      </p:sp>
      <p:sp>
        <p:nvSpPr>
          <p:cNvPr id="19" name="Insight Remote vs HQ"/>
          <p:cNvSpPr/>
          <p:nvPr/>
        </p:nvSpPr>
        <p:spPr>
          <a:xfrm>
            <a:off x="3291840" y="297180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20" name="Insight accent 4"/>
          <p:cNvSpPr/>
          <p:nvPr/>
        </p:nvSpPr>
        <p:spPr>
          <a:xfrm>
            <a:off x="3291840" y="3081528"/>
            <a:ext cx="73152" cy="1380744"/>
          </a:xfrm>
          <a:prstGeom prst="rect">
            <a:avLst/>
          </a:prstGeom>
          <a:solidFill>
            <a:schemeClr val="accent2"/>
          </a:solidFill>
          <a:ln w="12700">
            <a:solidFill>
              <a:schemeClr val="accent2"/>
            </a:solidFill>
            <a:prstDash val="solid"/>
          </a:ln>
        </p:spPr>
      </p:sp>
      <p:sp>
        <p:nvSpPr>
          <p:cNvPr id="21" name="Text 19"/>
          <p:cNvSpPr txBox="1"/>
          <p:nvPr/>
        </p:nvSpPr>
        <p:spPr>
          <a:xfrm>
            <a:off x="3520440" y="3108960"/>
            <a:ext cx="2194560" cy="365760"/>
          </a:xfrm>
          <a:prstGeom prst="rect">
            <a:avLst/>
          </a:prstGeom>
          <a:noFill/>
          <a:ln/>
        </p:spPr>
        <p:txBody>
          <a:bodyPr wrap="square" lIns="0" tIns="0" rIns="0" bIns="0" rtlCol="0" anchor="t"/>
          <a:lstStyle/>
          <a:p>
            <a:pPr marL="0" indent="0">
              <a:buNone/>
            </a:pPr>
            <a:r>
              <a:rPr lang="en-US" sz="1600" b="1" dirty="0">
                <a:solidFill>
                  <a:schemeClr val="tx2"/>
                </a:solidFill>
              </a:rPr>
              <a:t>Remote vs HQ</a:t>
            </a:r>
            <a:endParaRPr lang="en-US" sz="1600" dirty="0"/>
          </a:p>
        </p:txBody>
      </p:sp>
      <p:sp>
        <p:nvSpPr>
          <p:cNvPr id="22" name="Text 20"/>
          <p:cNvSpPr txBox="1"/>
          <p:nvPr/>
        </p:nvSpPr>
        <p:spPr>
          <a:xfrm>
            <a:off x="3520440" y="3502152"/>
            <a:ext cx="2194560" cy="1005840"/>
          </a:xfrm>
          <a:prstGeom prst="rect">
            <a:avLst/>
          </a:prstGeom>
          <a:noFill/>
          <a:ln/>
        </p:spPr>
        <p:txBody>
          <a:bodyPr wrap="square" lIns="0" tIns="0" rIns="0" bIns="0" rtlCol="0" anchor="t"/>
          <a:lstStyle/>
          <a:p>
            <a:pPr marL="0" indent="0">
              <a:buNone/>
            </a:pPr>
            <a:r>
              <a:rPr lang="en-US" sz="1400" dirty="0">
                <a:solidFill>
                  <a:schemeClr val="tx1"/>
                </a:solidFill>
              </a:rPr>
              <a:t>Remote staff leave less often (16.8%) than HQ staff (18.0%).</a:t>
            </a:r>
            <a:endParaRPr lang="en-US" sz="1400" dirty="0"/>
          </a:p>
        </p:txBody>
      </p:sp>
      <p:sp>
        <p:nvSpPr>
          <p:cNvPr id="23" name="Insight By age"/>
          <p:cNvSpPr/>
          <p:nvPr/>
        </p:nvSpPr>
        <p:spPr>
          <a:xfrm>
            <a:off x="6035040" y="2971800"/>
            <a:ext cx="2560320" cy="1600200"/>
          </a:xfrm>
          <a:prstGeom prst="roundRect">
            <a:avLst>
              <a:gd name="adj" fmla="val 4571"/>
            </a:avLst>
          </a:prstGeom>
          <a:solidFill>
            <a:schemeClr val="bg1"/>
          </a:solidFill>
          <a:ln w="9525">
            <a:solidFill>
              <a:srgbClr val="DDE5F0"/>
            </a:solidFill>
            <a:prstDash val="solid"/>
          </a:ln>
          <a:effectLst>
            <a:outerShdw algn="bl" rotWithShape="0">
              <a:srgbClr val="000000">
                <a:alpha val="0"/>
              </a:srgbClr>
            </a:outerShdw>
          </a:effectLst>
        </p:spPr>
      </p:sp>
      <p:sp>
        <p:nvSpPr>
          <p:cNvPr id="24" name="Insight accent 5"/>
          <p:cNvSpPr/>
          <p:nvPr/>
        </p:nvSpPr>
        <p:spPr>
          <a:xfrm>
            <a:off x="6035040" y="3081528"/>
            <a:ext cx="73152" cy="1380744"/>
          </a:xfrm>
          <a:prstGeom prst="rect">
            <a:avLst/>
          </a:prstGeom>
          <a:solidFill>
            <a:schemeClr val="accent5"/>
          </a:solidFill>
          <a:ln w="12700">
            <a:solidFill>
              <a:schemeClr val="accent5"/>
            </a:solidFill>
            <a:prstDash val="solid"/>
          </a:ln>
        </p:spPr>
      </p:sp>
      <p:sp>
        <p:nvSpPr>
          <p:cNvPr id="25" name="Text 23"/>
          <p:cNvSpPr txBox="1"/>
          <p:nvPr/>
        </p:nvSpPr>
        <p:spPr>
          <a:xfrm>
            <a:off x="6263640" y="3108960"/>
            <a:ext cx="2194560" cy="365760"/>
          </a:xfrm>
          <a:prstGeom prst="rect">
            <a:avLst/>
          </a:prstGeom>
          <a:noFill/>
          <a:ln/>
        </p:spPr>
        <p:txBody>
          <a:bodyPr wrap="square" lIns="0" tIns="0" rIns="0" bIns="0" rtlCol="0" anchor="t"/>
          <a:lstStyle/>
          <a:p>
            <a:pPr marL="0" indent="0">
              <a:buNone/>
            </a:pPr>
            <a:r>
              <a:rPr lang="en-US" sz="1600" b="1" dirty="0">
                <a:solidFill>
                  <a:schemeClr val="tx2"/>
                </a:solidFill>
              </a:rPr>
              <a:t>By age</a:t>
            </a:r>
            <a:endParaRPr lang="en-US" sz="1600" dirty="0"/>
          </a:p>
        </p:txBody>
      </p:sp>
      <p:sp>
        <p:nvSpPr>
          <p:cNvPr id="26" name="Text 24"/>
          <p:cNvSpPr txBox="1"/>
          <p:nvPr/>
        </p:nvSpPr>
        <p:spPr>
          <a:xfrm>
            <a:off x="6263640" y="3502152"/>
            <a:ext cx="2194560" cy="1005840"/>
          </a:xfrm>
          <a:prstGeom prst="rect">
            <a:avLst/>
          </a:prstGeom>
          <a:noFill/>
          <a:ln/>
        </p:spPr>
        <p:txBody>
          <a:bodyPr wrap="square" lIns="0" tIns="0" rIns="0" bIns="0" rtlCol="0" anchor="t"/>
          <a:lstStyle/>
          <a:p>
            <a:pPr marL="0" indent="0">
              <a:buNone/>
            </a:pPr>
            <a:r>
              <a:rPr lang="en-US" sz="1400" dirty="0">
                <a:solidFill>
                  <a:schemeClr val="tx1"/>
                </a:solidFill>
              </a:rPr>
              <a:t>Under 25 leave most (18.7%). Age 55 and above leave least (16.5%).</a:t>
            </a:r>
            <a:endParaRPr lang="en-US" sz="1400" dirty="0"/>
          </a:p>
        </p:txBody>
      </p:sp>
      <p:sp>
        <p:nvSpPr>
          <p:cNvPr id="2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bg1"/>
                </a:solidFill>
              </a:rPr>
              <a:t>Suggestions for the company</a:t>
            </a:r>
            <a:endParaRPr lang="en-US" sz="3200" dirty="0"/>
          </a:p>
        </p:txBody>
      </p:sp>
      <p:sp>
        <p:nvSpPr>
          <p:cNvPr id="3" name="Suggestion Reduce dependence on Ohio"/>
          <p:cNvSpPr/>
          <p:nvPr/>
        </p:nvSpPr>
        <p:spPr>
          <a:xfrm>
            <a:off x="548640" y="1234440"/>
            <a:ext cx="3931920" cy="1554480"/>
          </a:xfrm>
          <a:prstGeom prst="roundRect">
            <a:avLst>
              <a:gd name="adj" fmla="val 4706"/>
            </a:avLst>
          </a:prstGeom>
          <a:solidFill>
            <a:srgbClr val="1E2D52"/>
          </a:solidFill>
          <a:ln w="9525">
            <a:solidFill>
              <a:srgbClr val="2C3F6E"/>
            </a:solidFill>
            <a:prstDash val="solid"/>
          </a:ln>
        </p:spPr>
      </p:sp>
      <p:sp>
        <p:nvSpPr>
          <p:cNvPr id="4" name="Suggestion bar 0"/>
          <p:cNvSpPr/>
          <p:nvPr/>
        </p:nvSpPr>
        <p:spPr>
          <a:xfrm>
            <a:off x="731520" y="1234440"/>
            <a:ext cx="822960" cy="64008"/>
          </a:xfrm>
          <a:prstGeom prst="rect">
            <a:avLst/>
          </a:prstGeom>
          <a:solidFill>
            <a:srgbClr val="F59E0B"/>
          </a:solidFill>
          <a:ln w="12700">
            <a:solidFill>
              <a:srgbClr val="F59E0B"/>
            </a:solidFill>
            <a:prstDash val="solid"/>
          </a:ln>
        </p:spPr>
      </p:sp>
      <p:sp>
        <p:nvSpPr>
          <p:cNvPr id="5" name="Text 3"/>
          <p:cNvSpPr txBox="1"/>
          <p:nvPr/>
        </p:nvSpPr>
        <p:spPr>
          <a:xfrm>
            <a:off x="731520" y="1463040"/>
            <a:ext cx="3566160" cy="365760"/>
          </a:xfrm>
          <a:prstGeom prst="rect">
            <a:avLst/>
          </a:prstGeom>
          <a:noFill/>
          <a:ln/>
        </p:spPr>
        <p:txBody>
          <a:bodyPr wrap="square" lIns="0" tIns="0" rIns="0" bIns="0" rtlCol="0" anchor="t"/>
          <a:lstStyle/>
          <a:p>
            <a:pPr marL="0" indent="0">
              <a:buNone/>
            </a:pPr>
            <a:r>
              <a:rPr lang="en-US" sz="1800" b="1" dirty="0">
                <a:solidFill>
                  <a:schemeClr val="accent4"/>
                </a:solidFill>
              </a:rPr>
              <a:t>Reduce dependence on Ohio</a:t>
            </a:r>
            <a:endParaRPr lang="en-US" sz="1800" dirty="0"/>
          </a:p>
        </p:txBody>
      </p:sp>
      <p:sp>
        <p:nvSpPr>
          <p:cNvPr id="6" name="Text 4"/>
          <p:cNvSpPr txBox="1"/>
          <p:nvPr/>
        </p:nvSpPr>
        <p:spPr>
          <a:xfrm>
            <a:off x="731520" y="1920240"/>
            <a:ext cx="3566160" cy="822960"/>
          </a:xfrm>
          <a:prstGeom prst="rect">
            <a:avLst/>
          </a:prstGeom>
          <a:noFill/>
          <a:ln/>
        </p:spPr>
        <p:txBody>
          <a:bodyPr wrap="square" lIns="0" tIns="0" rIns="0" bIns="0" rtlCol="0" anchor="t"/>
          <a:lstStyle/>
          <a:p>
            <a:pPr marL="0" indent="0">
              <a:buNone/>
            </a:pPr>
            <a:r>
              <a:rPr lang="en-US" sz="1400" dirty="0">
                <a:solidFill>
                  <a:schemeClr val="bg1"/>
                </a:solidFill>
              </a:rPr>
              <a:t>81% of staff are in one state. Grow hiring in other states to spread risk.</a:t>
            </a:r>
            <a:endParaRPr lang="en-US" sz="1400" dirty="0"/>
          </a:p>
        </p:txBody>
      </p:sp>
      <p:sp>
        <p:nvSpPr>
          <p:cNvPr id="7" name="Suggestion Retain high-attrition teams"/>
          <p:cNvSpPr/>
          <p:nvPr/>
        </p:nvSpPr>
        <p:spPr>
          <a:xfrm>
            <a:off x="4663440" y="1234440"/>
            <a:ext cx="3931920" cy="1554480"/>
          </a:xfrm>
          <a:prstGeom prst="roundRect">
            <a:avLst>
              <a:gd name="adj" fmla="val 4706"/>
            </a:avLst>
          </a:prstGeom>
          <a:solidFill>
            <a:srgbClr val="1E2D52"/>
          </a:solidFill>
          <a:ln w="9525">
            <a:solidFill>
              <a:srgbClr val="2C3F6E"/>
            </a:solidFill>
            <a:prstDash val="solid"/>
          </a:ln>
        </p:spPr>
      </p:sp>
      <p:sp>
        <p:nvSpPr>
          <p:cNvPr id="8" name="Suggestion bar 1"/>
          <p:cNvSpPr/>
          <p:nvPr/>
        </p:nvSpPr>
        <p:spPr>
          <a:xfrm>
            <a:off x="4846320" y="1234440"/>
            <a:ext cx="822960" cy="64008"/>
          </a:xfrm>
          <a:prstGeom prst="rect">
            <a:avLst/>
          </a:prstGeom>
          <a:solidFill>
            <a:srgbClr val="F59E0B"/>
          </a:solidFill>
          <a:ln w="12700">
            <a:solidFill>
              <a:srgbClr val="F59E0B"/>
            </a:solidFill>
            <a:prstDash val="solid"/>
          </a:ln>
        </p:spPr>
      </p:sp>
      <p:sp>
        <p:nvSpPr>
          <p:cNvPr id="9" name="Text 7"/>
          <p:cNvSpPr txBox="1"/>
          <p:nvPr/>
        </p:nvSpPr>
        <p:spPr>
          <a:xfrm>
            <a:off x="4846320" y="1463040"/>
            <a:ext cx="3566160" cy="365760"/>
          </a:xfrm>
          <a:prstGeom prst="rect">
            <a:avLst/>
          </a:prstGeom>
          <a:noFill/>
          <a:ln/>
        </p:spPr>
        <p:txBody>
          <a:bodyPr wrap="square" lIns="0" tIns="0" rIns="0" bIns="0" rtlCol="0" anchor="t"/>
          <a:lstStyle/>
          <a:p>
            <a:pPr marL="0" indent="0">
              <a:buNone/>
            </a:pPr>
            <a:r>
              <a:rPr lang="en-US" sz="1800" b="1" dirty="0">
                <a:solidFill>
                  <a:schemeClr val="accent4"/>
                </a:solidFill>
              </a:rPr>
              <a:t>Retain high-attrition teams</a:t>
            </a:r>
            <a:endParaRPr lang="en-US" sz="1800" dirty="0"/>
          </a:p>
        </p:txBody>
      </p:sp>
      <p:sp>
        <p:nvSpPr>
          <p:cNvPr id="10" name="Text 8"/>
          <p:cNvSpPr txBox="1"/>
          <p:nvPr/>
        </p:nvSpPr>
        <p:spPr>
          <a:xfrm>
            <a:off x="4846320" y="1920240"/>
            <a:ext cx="3566160" cy="822960"/>
          </a:xfrm>
          <a:prstGeom prst="rect">
            <a:avLst/>
          </a:prstGeom>
          <a:noFill/>
          <a:ln/>
        </p:spPr>
        <p:txBody>
          <a:bodyPr wrap="square" lIns="0" tIns="0" rIns="0" bIns="0" rtlCol="0" anchor="t"/>
          <a:lstStyle/>
          <a:p>
            <a:pPr marL="0" indent="0">
              <a:buNone/>
            </a:pPr>
            <a:r>
              <a:rPr lang="en-US" sz="1400" dirty="0">
                <a:solidFill>
                  <a:schemeClr val="bg1"/>
                </a:solidFill>
              </a:rPr>
              <a:t>Auditing, Legal, R&amp;D and Support lose 19–23% of staff. Review pay, workload and growth paths.</a:t>
            </a:r>
            <a:endParaRPr lang="en-US" sz="1400" dirty="0"/>
          </a:p>
        </p:txBody>
      </p:sp>
      <p:sp>
        <p:nvSpPr>
          <p:cNvPr id="11" name="Suggestion Support early-career staff"/>
          <p:cNvSpPr/>
          <p:nvPr/>
        </p:nvSpPr>
        <p:spPr>
          <a:xfrm>
            <a:off x="548640" y="2971800"/>
            <a:ext cx="3931920" cy="1554480"/>
          </a:xfrm>
          <a:prstGeom prst="roundRect">
            <a:avLst>
              <a:gd name="adj" fmla="val 4706"/>
            </a:avLst>
          </a:prstGeom>
          <a:solidFill>
            <a:srgbClr val="1E2D52"/>
          </a:solidFill>
          <a:ln w="9525">
            <a:solidFill>
              <a:srgbClr val="2C3F6E"/>
            </a:solidFill>
            <a:prstDash val="solid"/>
          </a:ln>
        </p:spPr>
      </p:sp>
      <p:sp>
        <p:nvSpPr>
          <p:cNvPr id="12" name="Suggestion bar 2"/>
          <p:cNvSpPr/>
          <p:nvPr/>
        </p:nvSpPr>
        <p:spPr>
          <a:xfrm>
            <a:off x="731520" y="2971800"/>
            <a:ext cx="822960" cy="64008"/>
          </a:xfrm>
          <a:prstGeom prst="rect">
            <a:avLst/>
          </a:prstGeom>
          <a:solidFill>
            <a:srgbClr val="F59E0B"/>
          </a:solidFill>
          <a:ln w="12700">
            <a:solidFill>
              <a:srgbClr val="F59E0B"/>
            </a:solidFill>
            <a:prstDash val="solid"/>
          </a:ln>
        </p:spPr>
      </p:sp>
      <p:sp>
        <p:nvSpPr>
          <p:cNvPr id="13" name="Text 11"/>
          <p:cNvSpPr txBox="1"/>
          <p:nvPr/>
        </p:nvSpPr>
        <p:spPr>
          <a:xfrm>
            <a:off x="731520" y="3200400"/>
            <a:ext cx="3566160" cy="365760"/>
          </a:xfrm>
          <a:prstGeom prst="rect">
            <a:avLst/>
          </a:prstGeom>
          <a:noFill/>
          <a:ln/>
        </p:spPr>
        <p:txBody>
          <a:bodyPr wrap="square" lIns="0" tIns="0" rIns="0" bIns="0" rtlCol="0" anchor="t"/>
          <a:lstStyle/>
          <a:p>
            <a:pPr marL="0" indent="0">
              <a:buNone/>
            </a:pPr>
            <a:r>
              <a:rPr lang="en-US" sz="1800" b="1" dirty="0">
                <a:solidFill>
                  <a:schemeClr val="accent4"/>
                </a:solidFill>
              </a:rPr>
              <a:t>Support early-career staff</a:t>
            </a:r>
            <a:endParaRPr lang="en-US" sz="1800" dirty="0"/>
          </a:p>
        </p:txBody>
      </p:sp>
      <p:sp>
        <p:nvSpPr>
          <p:cNvPr id="14" name="Text 12"/>
          <p:cNvSpPr txBox="1"/>
          <p:nvPr/>
        </p:nvSpPr>
        <p:spPr>
          <a:xfrm>
            <a:off x="731520" y="3657600"/>
            <a:ext cx="3566160" cy="822960"/>
          </a:xfrm>
          <a:prstGeom prst="rect">
            <a:avLst/>
          </a:prstGeom>
          <a:noFill/>
          <a:ln/>
        </p:spPr>
        <p:txBody>
          <a:bodyPr wrap="square" lIns="0" tIns="0" rIns="0" bIns="0" rtlCol="0" anchor="t"/>
          <a:lstStyle/>
          <a:p>
            <a:pPr marL="0" indent="0">
              <a:buNone/>
            </a:pPr>
            <a:r>
              <a:rPr lang="en-US" sz="1400" dirty="0">
                <a:solidFill>
                  <a:schemeClr val="bg1"/>
                </a:solidFill>
              </a:rPr>
              <a:t>Employees under 25 leave most (18.7%). Add onboarding and mentoring.</a:t>
            </a:r>
            <a:endParaRPr lang="en-US" sz="1400" dirty="0"/>
          </a:p>
        </p:txBody>
      </p:sp>
      <p:sp>
        <p:nvSpPr>
          <p:cNvPr id="15" name="Suggestion Keep remote options"/>
          <p:cNvSpPr/>
          <p:nvPr/>
        </p:nvSpPr>
        <p:spPr>
          <a:xfrm>
            <a:off x="4663440" y="2971800"/>
            <a:ext cx="3931920" cy="1554480"/>
          </a:xfrm>
          <a:prstGeom prst="roundRect">
            <a:avLst>
              <a:gd name="adj" fmla="val 4706"/>
            </a:avLst>
          </a:prstGeom>
          <a:solidFill>
            <a:srgbClr val="1E2D52"/>
          </a:solidFill>
          <a:ln w="9525">
            <a:solidFill>
              <a:srgbClr val="2C3F6E"/>
            </a:solidFill>
            <a:prstDash val="solid"/>
          </a:ln>
        </p:spPr>
      </p:sp>
      <p:sp>
        <p:nvSpPr>
          <p:cNvPr id="16" name="Suggestion bar 3"/>
          <p:cNvSpPr/>
          <p:nvPr/>
        </p:nvSpPr>
        <p:spPr>
          <a:xfrm>
            <a:off x="4846320" y="2971800"/>
            <a:ext cx="822960" cy="64008"/>
          </a:xfrm>
          <a:prstGeom prst="rect">
            <a:avLst/>
          </a:prstGeom>
          <a:solidFill>
            <a:srgbClr val="F59E0B"/>
          </a:solidFill>
          <a:ln w="12700">
            <a:solidFill>
              <a:srgbClr val="F59E0B"/>
            </a:solidFill>
            <a:prstDash val="solid"/>
          </a:ln>
        </p:spPr>
      </p:sp>
      <p:sp>
        <p:nvSpPr>
          <p:cNvPr id="17" name="Text 15"/>
          <p:cNvSpPr txBox="1"/>
          <p:nvPr/>
        </p:nvSpPr>
        <p:spPr>
          <a:xfrm>
            <a:off x="4846320" y="3200400"/>
            <a:ext cx="3566160" cy="365760"/>
          </a:xfrm>
          <a:prstGeom prst="rect">
            <a:avLst/>
          </a:prstGeom>
          <a:noFill/>
          <a:ln/>
        </p:spPr>
        <p:txBody>
          <a:bodyPr wrap="square" lIns="0" tIns="0" rIns="0" bIns="0" rtlCol="0" anchor="t"/>
          <a:lstStyle/>
          <a:p>
            <a:pPr marL="0" indent="0">
              <a:buNone/>
            </a:pPr>
            <a:r>
              <a:rPr lang="en-US" sz="1800" b="1" dirty="0">
                <a:solidFill>
                  <a:schemeClr val="accent4"/>
                </a:solidFill>
              </a:rPr>
              <a:t>Keep remote options</a:t>
            </a:r>
            <a:endParaRPr lang="en-US" sz="1800" dirty="0"/>
          </a:p>
        </p:txBody>
      </p:sp>
      <p:sp>
        <p:nvSpPr>
          <p:cNvPr id="18" name="Text 16"/>
          <p:cNvSpPr txBox="1"/>
          <p:nvPr/>
        </p:nvSpPr>
        <p:spPr>
          <a:xfrm>
            <a:off x="4846320" y="3657600"/>
            <a:ext cx="3566160" cy="822960"/>
          </a:xfrm>
          <a:prstGeom prst="rect">
            <a:avLst/>
          </a:prstGeom>
          <a:noFill/>
          <a:ln/>
        </p:spPr>
        <p:txBody>
          <a:bodyPr wrap="square" lIns="0" tIns="0" rIns="0" bIns="0" rtlCol="0" anchor="t"/>
          <a:lstStyle/>
          <a:p>
            <a:pPr marL="0" indent="0">
              <a:buNone/>
            </a:pPr>
            <a:r>
              <a:rPr lang="en-US" sz="1400" dirty="0">
                <a:solidFill>
                  <a:schemeClr val="bg1"/>
                </a:solidFill>
              </a:rPr>
              <a:t>Remote staff leave less (16.8% vs 18.0% at HQ). Offer flexible work where roles allow.</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640080"/>
          </a:xfrm>
          <a:prstGeom prst="rect">
            <a:avLst/>
          </a:prstGeom>
          <a:noFill/>
          <a:ln/>
        </p:spPr>
        <p:txBody>
          <a:bodyPr wrap="square" lIns="0" tIns="0" rIns="0" bIns="0" rtlCol="0" anchor="ctr"/>
          <a:lstStyle/>
          <a:p>
            <a:pPr marL="0" indent="0" algn="l">
              <a:buNone/>
            </a:pPr>
            <a:r>
              <a:rPr lang="en-US" sz="3200" b="1" dirty="0">
                <a:solidFill>
                  <a:schemeClr val="bg1"/>
                </a:solidFill>
              </a:rPr>
              <a:t>Conclusion</a:t>
            </a:r>
            <a:endParaRPr lang="en-US" sz="3200" dirty="0"/>
          </a:p>
        </p:txBody>
      </p:sp>
      <p:sp>
        <p:nvSpPr>
          <p:cNvPr id="3" name="Conclusion accent 0"/>
          <p:cNvSpPr/>
          <p:nvPr/>
        </p:nvSpPr>
        <p:spPr>
          <a:xfrm>
            <a:off x="548640" y="1234440"/>
            <a:ext cx="64008" cy="548640"/>
          </a:xfrm>
          <a:prstGeom prst="rect">
            <a:avLst/>
          </a:prstGeom>
          <a:solidFill>
            <a:srgbClr val="F59E0B"/>
          </a:solidFill>
          <a:ln w="12700">
            <a:solidFill>
              <a:srgbClr val="F59E0B"/>
            </a:solidFill>
            <a:prstDash val="solid"/>
          </a:ln>
        </p:spPr>
      </p:sp>
      <p:sp>
        <p:nvSpPr>
          <p:cNvPr id="4" name="Text 2"/>
          <p:cNvSpPr txBox="1"/>
          <p:nvPr/>
        </p:nvSpPr>
        <p:spPr>
          <a:xfrm>
            <a:off x="777240" y="1188720"/>
            <a:ext cx="7818120" cy="640080"/>
          </a:xfrm>
          <a:prstGeom prst="rect">
            <a:avLst/>
          </a:prstGeom>
          <a:noFill/>
          <a:ln/>
        </p:spPr>
        <p:txBody>
          <a:bodyPr wrap="square" lIns="0" tIns="0" rIns="0" bIns="0" rtlCol="0" anchor="ctr"/>
          <a:lstStyle/>
          <a:p>
            <a:pPr marL="0" indent="0">
              <a:buNone/>
            </a:pPr>
            <a:r>
              <a:rPr lang="en-US" sz="1500" b="1" dirty="0">
                <a:solidFill>
                  <a:schemeClr val="accent4"/>
                </a:solidFill>
              </a:rPr>
              <a:t>Dashboard: </a:t>
            </a:r>
            <a:r>
              <a:rPr lang="en-US" sz="1500" dirty="0">
                <a:solidFill>
                  <a:schemeClr val="bg1"/>
                </a:solidFill>
              </a:rPr>
              <a:t>Power BI turns raw HR data into a clear view. The KPIs, line chart, donut chart and bar charts show the whole workforce at a glance.</a:t>
            </a:r>
            <a:endParaRPr lang="en-US" sz="1500" dirty="0"/>
          </a:p>
        </p:txBody>
      </p:sp>
      <p:sp>
        <p:nvSpPr>
          <p:cNvPr id="5" name="Conclusion accent 1"/>
          <p:cNvSpPr/>
          <p:nvPr/>
        </p:nvSpPr>
        <p:spPr>
          <a:xfrm>
            <a:off x="548640" y="1929384"/>
            <a:ext cx="64008" cy="548640"/>
          </a:xfrm>
          <a:prstGeom prst="rect">
            <a:avLst/>
          </a:prstGeom>
          <a:solidFill>
            <a:srgbClr val="F59E0B"/>
          </a:solidFill>
          <a:ln w="12700">
            <a:solidFill>
              <a:srgbClr val="F59E0B"/>
            </a:solidFill>
            <a:prstDash val="solid"/>
          </a:ln>
        </p:spPr>
      </p:sp>
      <p:sp>
        <p:nvSpPr>
          <p:cNvPr id="6" name="Text 4"/>
          <p:cNvSpPr txBox="1"/>
          <p:nvPr/>
        </p:nvSpPr>
        <p:spPr>
          <a:xfrm>
            <a:off x="777240" y="1883664"/>
            <a:ext cx="7818120" cy="640080"/>
          </a:xfrm>
          <a:prstGeom prst="rect">
            <a:avLst/>
          </a:prstGeom>
          <a:noFill/>
          <a:ln/>
        </p:spPr>
        <p:txBody>
          <a:bodyPr wrap="square" lIns="0" tIns="0" rIns="0" bIns="0" rtlCol="0" anchor="ctr"/>
          <a:lstStyle/>
          <a:p>
            <a:pPr marL="0" indent="0">
              <a:buNone/>
            </a:pPr>
            <a:r>
              <a:rPr lang="en-US" sz="1500" b="1" dirty="0">
                <a:solidFill>
                  <a:schemeClr val="accent4"/>
                </a:solidFill>
              </a:rPr>
              <a:t>Workforce: </a:t>
            </a:r>
            <a:r>
              <a:rPr lang="en-US" sz="1500" dirty="0">
                <a:solidFill>
                  <a:schemeClr val="bg1"/>
                </a:solidFill>
              </a:rPr>
              <a:t>The company has 22,214 employees. Most work at headquarters (75.2%) and the average age is 38.4 years.</a:t>
            </a:r>
            <a:endParaRPr lang="en-US" sz="1500" dirty="0"/>
          </a:p>
        </p:txBody>
      </p:sp>
      <p:sp>
        <p:nvSpPr>
          <p:cNvPr id="7" name="Conclusion accent 2"/>
          <p:cNvSpPr/>
          <p:nvPr/>
        </p:nvSpPr>
        <p:spPr>
          <a:xfrm>
            <a:off x="548640" y="2624328"/>
            <a:ext cx="64008" cy="548640"/>
          </a:xfrm>
          <a:prstGeom prst="rect">
            <a:avLst/>
          </a:prstGeom>
          <a:solidFill>
            <a:srgbClr val="F59E0B"/>
          </a:solidFill>
          <a:ln w="12700">
            <a:solidFill>
              <a:srgbClr val="F59E0B"/>
            </a:solidFill>
            <a:prstDash val="solid"/>
          </a:ln>
        </p:spPr>
      </p:sp>
      <p:sp>
        <p:nvSpPr>
          <p:cNvPr id="8" name="Text 6"/>
          <p:cNvSpPr txBox="1"/>
          <p:nvPr/>
        </p:nvSpPr>
        <p:spPr>
          <a:xfrm>
            <a:off x="777240" y="2578608"/>
            <a:ext cx="7818120" cy="640080"/>
          </a:xfrm>
          <a:prstGeom prst="rect">
            <a:avLst/>
          </a:prstGeom>
          <a:noFill/>
          <a:ln/>
        </p:spPr>
        <p:txBody>
          <a:bodyPr wrap="square" lIns="0" tIns="0" rIns="0" bIns="0" rtlCol="0" anchor="ctr"/>
          <a:lstStyle/>
          <a:p>
            <a:pPr marL="0" indent="0">
              <a:buNone/>
            </a:pPr>
            <a:r>
              <a:rPr lang="en-US" sz="1500" b="1" dirty="0">
                <a:solidFill>
                  <a:schemeClr val="accent4"/>
                </a:solidFill>
              </a:rPr>
              <a:t>Concentration: </a:t>
            </a:r>
            <a:r>
              <a:rPr lang="en-US" sz="1500" dirty="0">
                <a:solidFill>
                  <a:schemeClr val="bg1"/>
                </a:solidFill>
              </a:rPr>
              <a:t>Employees are concentrated in Ohio (81%) and in Engineering (30%). Gender is balanced and no race is above 30%.</a:t>
            </a:r>
            <a:endParaRPr lang="en-US" sz="1500" dirty="0"/>
          </a:p>
        </p:txBody>
      </p:sp>
      <p:sp>
        <p:nvSpPr>
          <p:cNvPr id="9" name="Conclusion accent 3"/>
          <p:cNvSpPr/>
          <p:nvPr/>
        </p:nvSpPr>
        <p:spPr>
          <a:xfrm>
            <a:off x="548640" y="3319272"/>
            <a:ext cx="64008" cy="548640"/>
          </a:xfrm>
          <a:prstGeom prst="rect">
            <a:avLst/>
          </a:prstGeom>
          <a:solidFill>
            <a:srgbClr val="F59E0B"/>
          </a:solidFill>
          <a:ln w="12700">
            <a:solidFill>
              <a:srgbClr val="F59E0B"/>
            </a:solidFill>
            <a:prstDash val="solid"/>
          </a:ln>
        </p:spPr>
      </p:sp>
      <p:sp>
        <p:nvSpPr>
          <p:cNvPr id="10" name="Text 8"/>
          <p:cNvSpPr txBox="1"/>
          <p:nvPr/>
        </p:nvSpPr>
        <p:spPr>
          <a:xfrm>
            <a:off x="777240" y="3273552"/>
            <a:ext cx="7818120" cy="640080"/>
          </a:xfrm>
          <a:prstGeom prst="rect">
            <a:avLst/>
          </a:prstGeom>
          <a:noFill/>
          <a:ln/>
        </p:spPr>
        <p:txBody>
          <a:bodyPr wrap="square" lIns="0" tIns="0" rIns="0" bIns="0" rtlCol="0" anchor="ctr"/>
          <a:lstStyle/>
          <a:p>
            <a:pPr marL="0" indent="0">
              <a:buNone/>
            </a:pPr>
            <a:r>
              <a:rPr lang="en-US" sz="1500" b="1" dirty="0">
                <a:solidFill>
                  <a:schemeClr val="accent4"/>
                </a:solidFill>
              </a:rPr>
              <a:t>Hiring and attrition: </a:t>
            </a:r>
            <a:r>
              <a:rPr lang="en-US" sz="1500" dirty="0">
                <a:solidFill>
                  <a:schemeClr val="bg1"/>
                </a:solidFill>
              </a:rPr>
              <a:t>Hiring has been steady at about 1,000–1,150 a year, but 17.7% of employees have left, mostly in small teams such as Auditing and Legal.</a:t>
            </a:r>
            <a:endParaRPr lang="en-US" sz="1500" dirty="0"/>
          </a:p>
        </p:txBody>
      </p:sp>
      <p:sp>
        <p:nvSpPr>
          <p:cNvPr id="11" name="Conclusion accent 4"/>
          <p:cNvSpPr/>
          <p:nvPr/>
        </p:nvSpPr>
        <p:spPr>
          <a:xfrm>
            <a:off x="548640" y="4014216"/>
            <a:ext cx="64008" cy="548640"/>
          </a:xfrm>
          <a:prstGeom prst="rect">
            <a:avLst/>
          </a:prstGeom>
          <a:solidFill>
            <a:srgbClr val="F59E0B"/>
          </a:solidFill>
          <a:ln w="12700">
            <a:solidFill>
              <a:srgbClr val="F59E0B"/>
            </a:solidFill>
            <a:prstDash val="solid"/>
          </a:ln>
        </p:spPr>
      </p:sp>
      <p:sp>
        <p:nvSpPr>
          <p:cNvPr id="12" name="Text 10"/>
          <p:cNvSpPr txBox="1"/>
          <p:nvPr/>
        </p:nvSpPr>
        <p:spPr>
          <a:xfrm>
            <a:off x="777240" y="3968496"/>
            <a:ext cx="7818120" cy="640080"/>
          </a:xfrm>
          <a:prstGeom prst="rect">
            <a:avLst/>
          </a:prstGeom>
          <a:noFill/>
          <a:ln/>
        </p:spPr>
        <p:txBody>
          <a:bodyPr wrap="square" lIns="0" tIns="0" rIns="0" bIns="0" rtlCol="0" anchor="ctr"/>
          <a:lstStyle/>
          <a:p>
            <a:pPr marL="0" indent="0">
              <a:buNone/>
            </a:pPr>
            <a:r>
              <a:rPr lang="en-US" sz="1500" b="1" dirty="0">
                <a:solidFill>
                  <a:schemeClr val="accent4"/>
                </a:solidFill>
              </a:rPr>
              <a:t>What I learned: </a:t>
            </a:r>
            <a:r>
              <a:rPr lang="en-US" sz="1500" dirty="0">
                <a:solidFill>
                  <a:schemeClr val="bg1"/>
                </a:solidFill>
              </a:rPr>
              <a:t>How to load data, write DAX measures, design charts, and turn numbers into insights and suggestions.</a:t>
            </a:r>
            <a:endParaRPr lang="en-US" sz="1500" dirty="0"/>
          </a:p>
        </p:txBody>
      </p:sp>
    </p:spTree>
  </p:cSld>
  <p:clrMapOvr>
    <a:masterClrMapping/>
  </p:clrMapOvr>
</p:sld>
</file>

<file path=ppt/theme/theme1.xml><?xml version="1.0" encoding="utf-8"?>
<a:theme xmlns:a="http://schemas.openxmlformats.org/drawingml/2006/main" name="HR Navy Blue">
  <a:themeElements>
    <a:clrScheme name="HR Navy Blue">
      <a:dk1>
        <a:srgbClr val="1F2937"/>
      </a:dk1>
      <a:lt1>
        <a:srgbClr val="FFFFFF"/>
      </a:lt1>
      <a:dk2>
        <a:srgbClr val="14213D"/>
      </a:dk2>
      <a:lt2>
        <a:srgbClr val="EAF2FB"/>
      </a:lt2>
      <a:accent1>
        <a:srgbClr val="2563EB"/>
      </a:accent1>
      <a:accent2>
        <a:srgbClr val="F59E0B"/>
      </a:accent2>
      <a:accent3>
        <a:srgbClr val="6B7280"/>
      </a:accent3>
      <a:accent4>
        <a:srgbClr val="A6D1FF"/>
      </a:accent4>
      <a:accent5>
        <a:srgbClr val="0F766E"/>
      </a:accent5>
      <a:accent6>
        <a:srgbClr val="EF4444"/>
      </a:accent6>
      <a:hlink>
        <a:srgbClr val="2563EB"/>
      </a:hlink>
      <a:folHlink>
        <a:srgbClr val="6B7280"/>
      </a:folHlink>
    </a:clrScheme>
    <a:fontScheme name="HR Navy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1320</Words>
  <Application>Microsoft Office PowerPoint</Application>
  <PresentationFormat>On-screen Show (16:9)</PresentationFormat>
  <Paragraphs>153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HR Navy Blue</vt:lpstr>
      <vt:lpstr>PRDA – 03 HR Analytics</vt:lpstr>
      <vt:lpstr>Project objective</vt:lpstr>
      <vt:lpstr>Getting the data</vt:lpstr>
      <vt:lpstr>Power BI dashboard</vt:lpstr>
      <vt:lpstr>KPIs</vt:lpstr>
      <vt:lpstr>Hiring rate by year</vt:lpstr>
      <vt:lpstr>Employees by gender</vt:lpstr>
      <vt:lpstr>Employees by state</vt:lpstr>
      <vt:lpstr>Employees by department</vt:lpstr>
      <vt:lpstr>Employees by race</vt:lpstr>
      <vt:lpstr>Insights: the workforce</vt:lpstr>
      <vt:lpstr>Insights: hiring and attrition</vt:lpstr>
      <vt:lpstr>Suggestions for the company</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PRDA – 03 HR Analytics</dc:title>
  <dc:subject>PptxGenJS Presentation</dc:subject>
  <dc:creator>Nettem Aswini Naidu</dc:creator>
  <cp:lastModifiedBy>CHINNI NAIDU</cp:lastModifiedBy>
  <cp:revision>2</cp:revision>
  <dcterms:created xsi:type="dcterms:W3CDTF">2026-10-14T05:43:09Z</dcterms:created>
  <dcterms:modified xsi:type="dcterms:W3CDTF">2026-10-14T05:53:39Z</dcterms:modified>
</cp:coreProperties>
</file>